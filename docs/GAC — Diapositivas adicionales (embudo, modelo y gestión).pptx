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</p:sldIdLst>
  <p:sldSz cx="12192000" cy="6858000" type="custom"/>
  <p:notesSz cx="12192000" cy="6858000"/>
  <p:embeddedFontLst>
    <p:embeddedFont>
      <p:font typeface="Liter" charset="-122" pitchFamily="34"/>
      <p:regular r:id="rId6"/>
    </p:embeddedFont>
    <p:embeddedFont>
      <p:font typeface="MiSans" charset="-122" pitchFamily="34"/>
      <p:regular r:id="rId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E6BE6"/>
                </a:solidFill>
                <a:latin typeface="Liter"/>
                <a:ea typeface="Liter"/>
              </a:rPr>
              <a:t>CONTEXTO · CANAL DIGITAL — AGOSTO 2026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16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2263F"/>
                </a:solidFill>
                <a:latin typeface="Liter"/>
                <a:ea typeface="Liter"/>
              </a:rPr>
              <a:t>El embudo de conversión actual, del lead a la venta</a:t>
            </a:r>
            <a:endParaRPr lang="en-US" sz="2800" noProof="1"/>
          </a:p>
        </p:txBody>
      </p:sp>
      <p:sp>
        <p:nvSpPr>
          <p:cNvPr id="4" name="regla-azul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2E6BE6"/>
          </a:solidFill>
          <a:ln>
            <a:noFill/>
          </a:ln>
        </p:spPr>
      </p:sp>
      <p:sp>
        <p:nvSpPr>
          <p:cNvPr id="5" name="marca-gac"/>
          <p:cNvSpPr txBox="1"/>
          <p:nvPr/>
        </p:nvSpPr>
        <p:spPr>
          <a:xfrm>
            <a:off x="10820400" y="3048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" noProof="1" b="1">
                <a:solidFill>
                  <a:srgbClr val="12263F"/>
                </a:solidFill>
                <a:latin typeface="MiSans"/>
                <a:ea typeface="MiSans"/>
              </a:rPr>
              <a:t>GAC</a:t>
            </a:r>
            <a:endParaRPr lang="en-US" sz="1500" noProof="1"/>
          </a:p>
        </p:txBody>
      </p:sp>
      <p:sp>
        <p:nvSpPr>
          <p:cNvPr id="6" name="marca-barra"/>
          <p:cNvSpPr/>
          <p:nvPr/>
        </p:nvSpPr>
        <p:spPr>
          <a:xfrm>
            <a:off x="10998200" y="596900"/>
            <a:ext cx="431800" cy="50800"/>
          </a:xfrm>
          <a:prstGeom prst="rect">
            <a:avLst/>
          </a:prstGeom>
          <a:solidFill>
            <a:srgbClr val="E23B3B"/>
          </a:solidFill>
          <a:ln>
            <a:noFill/>
          </a:ln>
        </p:spPr>
      </p:sp>
      <p:sp>
        <p:nvSpPr>
          <p:cNvPr id="7" name="lbl-1"/>
          <p:cNvSpPr txBox="1"/>
          <p:nvPr/>
        </p:nvSpPr>
        <p:spPr>
          <a:xfrm>
            <a:off x="762000" y="19304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3415C"/>
                </a:solidFill>
                <a:latin typeface="MiSans"/>
                <a:ea typeface="MiSans"/>
              </a:rPr>
              <a:t>Leads totales</a:t>
            </a:r>
            <a:endParaRPr lang="en-US" sz="1150" noProof="1"/>
          </a:p>
        </p:txBody>
      </p:sp>
      <p:sp>
        <p:nvSpPr>
          <p:cNvPr id="8" name="lbl-2"/>
          <p:cNvSpPr txBox="1"/>
          <p:nvPr/>
        </p:nvSpPr>
        <p:spPr>
          <a:xfrm>
            <a:off x="762000" y="27432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3415C"/>
                </a:solidFill>
                <a:latin typeface="MiSans"/>
                <a:ea typeface="MiSans"/>
              </a:rPr>
              <a:t>Hicieron PDM</a:t>
            </a:r>
            <a:endParaRPr lang="en-US" sz="1150" noProof="1"/>
          </a:p>
        </p:txBody>
      </p:sp>
      <p:sp>
        <p:nvSpPr>
          <p:cNvPr id="9" name="lbl-3"/>
          <p:cNvSpPr txBox="1"/>
          <p:nvPr/>
        </p:nvSpPr>
        <p:spPr>
          <a:xfrm>
            <a:off x="762000" y="35560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3415C"/>
                </a:solidFill>
                <a:latin typeface="MiSans"/>
                <a:ea typeface="MiSans"/>
              </a:rPr>
              <a:t>Solicitaron SDC</a:t>
            </a:r>
            <a:endParaRPr lang="en-US" sz="1150" noProof="1"/>
          </a:p>
        </p:txBody>
      </p:sp>
      <p:sp>
        <p:nvSpPr>
          <p:cNvPr id="10" name="lbl-4"/>
          <p:cNvSpPr txBox="1"/>
          <p:nvPr/>
        </p:nvSpPr>
        <p:spPr>
          <a:xfrm>
            <a:off x="762000" y="4368800"/>
            <a:ext cx="177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>
                <a:solidFill>
                  <a:srgbClr val="33415C"/>
                </a:solidFill>
                <a:latin typeface="MiSans"/>
                <a:ea typeface="MiSans"/>
              </a:rPr>
              <a:t>Venta concretada</a:t>
            </a:r>
            <a:endParaRPr lang="en-US" sz="1150" noProof="1"/>
          </a:p>
        </p:txBody>
      </p:sp>
      <p:sp>
        <p:nvSpPr>
          <p:cNvPr id="11" name="bar-1"/>
          <p:cNvSpPr/>
          <p:nvPr/>
        </p:nvSpPr>
        <p:spPr>
          <a:xfrm>
            <a:off x="2667000" y="1854200"/>
            <a:ext cx="4318000" cy="406400"/>
          </a:xfrm>
          <a:prstGeom prst="roundRect">
            <a:avLst>
              <a:gd name="adj" fmla="val 18000"/>
            </a:avLst>
          </a:prstGeom>
          <a:solidFill>
            <a:srgbClr val="4A8AF4"/>
          </a:solidFill>
          <a:ln>
            <a:noFill/>
          </a:ln>
        </p:spPr>
      </p:sp>
      <p:sp>
        <p:nvSpPr>
          <p:cNvPr id="12" name="bar-2"/>
          <p:cNvSpPr/>
          <p:nvPr/>
        </p:nvSpPr>
        <p:spPr>
          <a:xfrm>
            <a:off x="2667000" y="2667000"/>
            <a:ext cx="2197100" cy="406400"/>
          </a:xfrm>
          <a:prstGeom prst="roundRect">
            <a:avLst>
              <a:gd name="adj" fmla="val 18000"/>
            </a:avLst>
          </a:prstGeom>
          <a:solidFill>
            <a:srgbClr val="2E5FC7"/>
          </a:solidFill>
          <a:ln>
            <a:noFill/>
          </a:ln>
        </p:spPr>
      </p:sp>
      <p:sp>
        <p:nvSpPr>
          <p:cNvPr id="13" name="bar-3"/>
          <p:cNvSpPr/>
          <p:nvPr/>
        </p:nvSpPr>
        <p:spPr>
          <a:xfrm>
            <a:off x="2667000" y="3479800"/>
            <a:ext cx="1778000" cy="406400"/>
          </a:xfrm>
          <a:prstGeom prst="roundRect">
            <a:avLst>
              <a:gd name="adj" fmla="val 18000"/>
            </a:avLst>
          </a:prstGeom>
          <a:solidFill>
            <a:srgbClr val="1E3E6E"/>
          </a:solidFill>
          <a:ln>
            <a:noFill/>
          </a:ln>
        </p:spPr>
      </p:sp>
      <p:sp>
        <p:nvSpPr>
          <p:cNvPr id="14" name="bar-4"/>
          <p:cNvSpPr/>
          <p:nvPr/>
        </p:nvSpPr>
        <p:spPr>
          <a:xfrm>
            <a:off x="2667000" y="4292600"/>
            <a:ext cx="381000" cy="406400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</p:spPr>
      </p:sp>
      <p:sp>
        <p:nvSpPr>
          <p:cNvPr id="15" name="val-1"/>
          <p:cNvSpPr txBox="1"/>
          <p:nvPr/>
        </p:nvSpPr>
        <p:spPr>
          <a:xfrm>
            <a:off x="7086600" y="19304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2263F"/>
                </a:solidFill>
                <a:latin typeface="MiSans"/>
                <a:ea typeface="MiSans"/>
              </a:rPr>
              <a:t>668 (100.0%)</a:t>
            </a:r>
            <a:endParaRPr lang="en-US" sz="1200" noProof="1"/>
          </a:p>
        </p:txBody>
      </p:sp>
      <p:sp>
        <p:nvSpPr>
          <p:cNvPr id="16" name="val-2"/>
          <p:cNvSpPr txBox="1"/>
          <p:nvPr/>
        </p:nvSpPr>
        <p:spPr>
          <a:xfrm>
            <a:off x="4965700" y="27432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2263F"/>
                </a:solidFill>
                <a:latin typeface="MiSans"/>
                <a:ea typeface="MiSans"/>
              </a:rPr>
              <a:t>339 (50.7%)</a:t>
            </a:r>
            <a:endParaRPr lang="en-US" sz="1200" noProof="1"/>
          </a:p>
        </p:txBody>
      </p:sp>
      <p:sp>
        <p:nvSpPr>
          <p:cNvPr id="17" name="val-3"/>
          <p:cNvSpPr txBox="1"/>
          <p:nvPr/>
        </p:nvSpPr>
        <p:spPr>
          <a:xfrm>
            <a:off x="4546600" y="35560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2263F"/>
                </a:solidFill>
                <a:latin typeface="MiSans"/>
                <a:ea typeface="MiSans"/>
              </a:rPr>
              <a:t>275 (41.2%)</a:t>
            </a:r>
            <a:endParaRPr lang="en-US" sz="1200" noProof="1"/>
          </a:p>
        </p:txBody>
      </p:sp>
      <p:sp>
        <p:nvSpPr>
          <p:cNvPr id="18" name="val-4"/>
          <p:cNvSpPr txBox="1"/>
          <p:nvPr/>
        </p:nvSpPr>
        <p:spPr>
          <a:xfrm>
            <a:off x="3149600" y="4368800"/>
            <a:ext cx="1397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2263F"/>
                </a:solidFill>
                <a:latin typeface="MiSans"/>
                <a:ea typeface="MiSans"/>
              </a:rPr>
              <a:t>58 (8.7%)</a:t>
            </a:r>
            <a:endParaRPr lang="en-US" sz="1200" noProof="1"/>
          </a:p>
        </p:txBody>
      </p:sp>
      <p:sp>
        <p:nvSpPr>
          <p:cNvPr id="19" name="drop-1"/>
          <p:cNvSpPr txBox="1"/>
          <p:nvPr/>
        </p:nvSpPr>
        <p:spPr>
          <a:xfrm>
            <a:off x="2667000" y="2336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E23B3B"/>
                </a:solidFill>
                <a:latin typeface="MiSans"/>
                <a:ea typeface="MiSans"/>
              </a:rPr>
              <a:t>−49.3% no llega a la prueba de manejo</a:t>
            </a:r>
            <a:endParaRPr lang="en-US" sz="950" noProof="1"/>
          </a:p>
        </p:txBody>
      </p:sp>
      <p:sp>
        <p:nvSpPr>
          <p:cNvPr id="20" name="drop-2"/>
          <p:cNvSpPr txBox="1"/>
          <p:nvPr/>
        </p:nvSpPr>
        <p:spPr>
          <a:xfrm>
            <a:off x="2667000" y="31496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E23B3B"/>
                </a:solidFill>
                <a:latin typeface="MiSans"/>
                <a:ea typeface="MiSans"/>
              </a:rPr>
              <a:t>−18.9% no solicita crédito</a:t>
            </a:r>
            <a:endParaRPr lang="en-US" sz="950" noProof="1"/>
          </a:p>
        </p:txBody>
      </p:sp>
      <p:sp>
        <p:nvSpPr>
          <p:cNvPr id="21" name="drop-3"/>
          <p:cNvSpPr txBox="1"/>
          <p:nvPr/>
        </p:nvSpPr>
        <p:spPr>
          <a:xfrm>
            <a:off x="2667000" y="39624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 b="1">
                <a:solidFill>
                  <a:srgbClr val="E23B3B"/>
                </a:solidFill>
                <a:latin typeface="MiSans"/>
                <a:ea typeface="MiSans"/>
              </a:rPr>
              <a:t>−78.9% se cae después del crédito</a:t>
            </a:r>
            <a:endParaRPr lang="en-US" sz="950" noProof="1"/>
          </a:p>
        </p:txBody>
      </p:sp>
      <p:sp>
        <p:nvSpPr>
          <p:cNvPr id="22" name="nota-corte"/>
          <p:cNvSpPr txBox="1"/>
          <p:nvPr/>
        </p:nvSpPr>
        <p:spPr>
          <a:xfrm>
            <a:off x="762000" y="5029200"/>
            <a:ext cx="7112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6B7280"/>
                </a:solidFill>
                <a:latin typeface="Liter"/>
                <a:ea typeface="Liter"/>
              </a:rPr>
              <a:t>Corte al 7 de agosto de 2026. El embudo corresponde al canal digital de la agencia, no a su operación total.</a:t>
            </a:r>
            <a:endParaRPr lang="en-US" sz="1000" noProof="1"/>
          </a:p>
        </p:txBody>
      </p:sp>
      <p:sp>
        <p:nvSpPr>
          <p:cNvPr id="23" name="panel-hallazgo"/>
          <p:cNvSpPr/>
          <p:nvPr/>
        </p:nvSpPr>
        <p:spPr>
          <a:xfrm>
            <a:off x="8382000" y="1854200"/>
            <a:ext cx="3048000" cy="28448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24" name="panel-acento"/>
          <p:cNvSpPr/>
          <p:nvPr/>
        </p:nvSpPr>
        <p:spPr>
          <a:xfrm>
            <a:off x="8382000" y="1854200"/>
            <a:ext cx="50800" cy="2844800"/>
          </a:xfrm>
          <a:prstGeom prst="rect">
            <a:avLst/>
          </a:prstGeom>
          <a:solidFill>
            <a:srgbClr val="E23B3B"/>
          </a:solidFill>
          <a:ln>
            <a:noFill/>
          </a:ln>
        </p:spPr>
      </p:sp>
      <p:sp>
        <p:nvSpPr>
          <p:cNvPr id="25" name="hallazgo-label"/>
          <p:cNvSpPr txBox="1"/>
          <p:nvPr/>
        </p:nvSpPr>
        <p:spPr>
          <a:xfrm>
            <a:off x="8636000" y="2032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50" kern="0">
                <a:solidFill>
                  <a:srgbClr val="E23B3B"/>
                </a:solidFill>
                <a:latin typeface="MiSans"/>
                <a:ea typeface="MiSans"/>
              </a:rPr>
              <a:t>HALLAZGO CRÍTICO</a:t>
            </a:r>
            <a:endParaRPr lang="en-US" sz="1000" noProof="1"/>
          </a:p>
        </p:txBody>
      </p:sp>
      <p:sp>
        <p:nvSpPr>
          <p:cNvPr id="26" name="hallazgo-num1"/>
          <p:cNvSpPr txBox="1"/>
          <p:nvPr/>
        </p:nvSpPr>
        <p:spPr>
          <a:xfrm>
            <a:off x="8636000" y="2286000"/>
            <a:ext cx="254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200" noProof="1" b="1">
                <a:solidFill>
                  <a:srgbClr val="12263F"/>
                </a:solidFill>
                <a:latin typeface="MiSans"/>
                <a:ea typeface="MiSans"/>
              </a:rPr>
              <a:t>8.7%</a:t>
            </a:r>
            <a:endParaRPr lang="en-US" sz="3200" noProof="1"/>
          </a:p>
        </p:txBody>
      </p:sp>
      <p:sp>
        <p:nvSpPr>
          <p:cNvPr id="27" name="hallazgo-desc1"/>
          <p:cNvSpPr txBox="1"/>
          <p:nvPr/>
        </p:nvSpPr>
        <p:spPr>
          <a:xfrm>
            <a:off x="8636000" y="2794000"/>
            <a:ext cx="25654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33415C"/>
                </a:solidFill>
                <a:latin typeface="MiSans"/>
                <a:ea typeface="MiSans"/>
              </a:rPr>
              <a:t>de conversión global, por debajo del benchmark del sector automotriz (12–15%).</a:t>
            </a:r>
            <a:endParaRPr lang="en-US" sz="1050" noProof="1"/>
          </a:p>
        </p:txBody>
      </p:sp>
      <p:sp>
        <p:nvSpPr>
          <p:cNvPr id="28" name="hallazgo-div"/>
          <p:cNvSpPr/>
          <p:nvPr/>
        </p:nvSpPr>
        <p:spPr>
          <a:xfrm>
            <a:off x="8636000" y="3556000"/>
            <a:ext cx="2540000" cy="12700"/>
          </a:xfrm>
          <a:prstGeom prst="rect">
            <a:avLst/>
          </a:prstGeom>
          <a:solidFill>
            <a:srgbClr val="DDE3EC"/>
          </a:solidFill>
          <a:ln>
            <a:noFill/>
          </a:ln>
        </p:spPr>
      </p:sp>
      <p:sp>
        <p:nvSpPr>
          <p:cNvPr id="29" name="hallazgo-num2"/>
          <p:cNvSpPr txBox="1"/>
          <p:nvPr/>
        </p:nvSpPr>
        <p:spPr>
          <a:xfrm>
            <a:off x="8636000" y="3708400"/>
            <a:ext cx="254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2E6BE6"/>
                </a:solidFill>
                <a:latin typeface="MiSans"/>
                <a:ea typeface="MiSans"/>
              </a:rPr>
              <a:t>4.1×</a:t>
            </a:r>
            <a:endParaRPr lang="en-US" sz="2800" noProof="1"/>
          </a:p>
        </p:txBody>
      </p:sp>
      <p:sp>
        <p:nvSpPr>
          <p:cNvPr id="30" name="hallazgo-desc2"/>
          <p:cNvSpPr txBox="1"/>
          <p:nvPr/>
        </p:nvSpPr>
        <p:spPr>
          <a:xfrm>
            <a:off x="8636000" y="4165600"/>
            <a:ext cx="2565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33415C"/>
                </a:solidFill>
                <a:latin typeface="MiSans"/>
                <a:ea typeface="MiSans"/>
              </a:rPr>
              <a:t>más probabilidad de compra cuando el lead solicita crédito (SDC).</a:t>
            </a:r>
            <a:endParaRPr lang="en-US" sz="1050" noProof="1"/>
          </a:p>
        </p:txBody>
      </p:sp>
      <p:sp>
        <p:nvSpPr>
          <p:cNvPr id="31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DE3EC"/>
          </a:solidFill>
          <a:ln>
            <a:noFill/>
          </a:ln>
        </p:spPr>
      </p:sp>
      <p:sp>
        <p:nvSpPr>
          <p:cNvPr id="32" name="pie-izq"/>
          <p:cNvSpPr txBox="1"/>
          <p:nvPr/>
        </p:nvSpPr>
        <p:spPr>
          <a:xfrm>
            <a:off x="762000" y="655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94A6"/>
                </a:solidFill>
                <a:latin typeface="MiSans"/>
                <a:ea typeface="MiSans"/>
              </a:rPr>
              <a:t>Propuesta final · Equipo GAC</a:t>
            </a:r>
            <a:endParaRPr lang="en-US" sz="900" noProof="1"/>
          </a:p>
        </p:txBody>
      </p:sp>
      <p:sp>
        <p:nvSpPr>
          <p:cNvPr id="33" name="pie-der"/>
          <p:cNvSpPr txBox="1"/>
          <p:nvPr/>
        </p:nvSpPr>
        <p:spPr>
          <a:xfrm>
            <a:off x="9906000" y="6553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94A6"/>
                </a:solidFill>
                <a:latin typeface="MiSans"/>
                <a:ea typeface="MiSans"/>
              </a:rPr>
              <a:t>Diapositiva adicional 1 de 3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E6BE6"/>
                </a:solidFill>
                <a:latin typeface="Liter"/>
                <a:ea typeface="Liter"/>
              </a:rPr>
              <a:t>EVIDENCIA · REGRESIÓN LINEAL MÚLTIPLE — 36 ASESORES DE PISO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2263F"/>
                </a:solidFill>
                <a:latin typeface="Liter"/>
                <a:ea typeface="Liter"/>
              </a:rPr>
              <a:t>Ventas por asesor: el desempeño no es aleatorio (R</a:t>
            </a:r>
            <a:r>
              <a:rPr lang="en-US" sz="2800" noProof="1" b="1" baseline="30000">
                <a:solidFill>
                  <a:srgbClr val="12263F"/>
                </a:solidFill>
                <a:latin typeface="Liter"/>
                <a:ea typeface="Liter"/>
              </a:rPr>
              <a:t>2</a:t>
            </a:r>
            <a:r>
              <a:rPr lang="en-US" sz="2800" noProof="1" b="1">
                <a:solidFill>
                  <a:srgbClr val="12263F"/>
                </a:solidFill>
                <a:latin typeface="Liter"/>
                <a:ea typeface="Liter"/>
              </a:rPr>
              <a:t> = 0.862)</a:t>
            </a:r>
            <a:endParaRPr lang="en-US" sz="2800" noProof="1"/>
          </a:p>
        </p:txBody>
      </p:sp>
      <p:sp>
        <p:nvSpPr>
          <p:cNvPr id="4" name="regla-azul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2E6BE6"/>
          </a:solidFill>
          <a:ln>
            <a:noFill/>
          </a:ln>
        </p:spPr>
      </p:sp>
      <p:sp>
        <p:nvSpPr>
          <p:cNvPr id="5" name="marca-gac"/>
          <p:cNvSpPr txBox="1"/>
          <p:nvPr/>
        </p:nvSpPr>
        <p:spPr>
          <a:xfrm>
            <a:off x="10820400" y="3048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" noProof="1" b="1">
                <a:solidFill>
                  <a:srgbClr val="12263F"/>
                </a:solidFill>
                <a:latin typeface="MiSans"/>
                <a:ea typeface="MiSans"/>
              </a:rPr>
              <a:t>GAC</a:t>
            </a:r>
            <a:endParaRPr lang="en-US" sz="1500" noProof="1"/>
          </a:p>
        </p:txBody>
      </p:sp>
      <p:sp>
        <p:nvSpPr>
          <p:cNvPr id="6" name="marca-barra"/>
          <p:cNvSpPr/>
          <p:nvPr/>
        </p:nvSpPr>
        <p:spPr>
          <a:xfrm>
            <a:off x="10998200" y="596900"/>
            <a:ext cx="431800" cy="50800"/>
          </a:xfrm>
          <a:prstGeom prst="rect">
            <a:avLst/>
          </a:prstGeom>
          <a:solidFill>
            <a:srgbClr val="E23B3B"/>
          </a:solidFill>
          <a:ln>
            <a:noFill/>
          </a:ln>
        </p:spPr>
      </p:sp>
      <p:sp>
        <p:nvSpPr>
          <p:cNvPr id="7" name="intro"/>
          <p:cNvSpPr txBox="1"/>
          <p:nvPr/>
        </p:nvSpPr>
        <p:spPr>
          <a:xfrm>
            <a:off x="762000" y="13970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33415C"/>
                </a:solidFill>
                <a:latin typeface="MiSans"/>
                <a:ea typeface="MiSans"/>
              </a:rPr>
              <a:t>El modelo explica el 86.2% de la variabilidad en ventas por asesor: las diferencias de desempeño sí tienen causa medible.</a:t>
            </a:r>
            <a:endParaRPr lang="en-US" sz="1250" noProof="1"/>
          </a:p>
        </p:txBody>
      </p:sp>
      <p:sp>
        <p:nvSpPr>
          <p:cNvPr id="8" name="eq-panel"/>
          <p:cNvSpPr/>
          <p:nvPr/>
        </p:nvSpPr>
        <p:spPr>
          <a:xfrm>
            <a:off x="762000" y="1803400"/>
            <a:ext cx="10668000" cy="4826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9" name="eq-texto"/>
          <p:cNvSpPr txBox="1"/>
          <p:nvPr/>
        </p:nvSpPr>
        <p:spPr>
          <a:xfrm>
            <a:off x="990600" y="1930400"/>
            <a:ext cx="10236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2263F"/>
                </a:solidFill>
                <a:latin typeface="MiSans"/>
                <a:ea typeface="MiSans"/>
              </a:rPr>
              <a:t>Ventas = 2.73 + 0.279·(Total_PDM) + 0.140·(Total_SDC) − 0.101·(Total_Leads) − 0.041·(Potencial_Prom)</a:t>
            </a:r>
            <a:endParaRPr lang="en-US" sz="1250" noProof="1"/>
          </a:p>
        </p:txBody>
      </p:sp>
      <p:graphicFrame>
        <p:nvGraphicFramePr>
          <p:cNvPr id="10" name="tabla-modelo"/>
          <p:cNvGraphicFramePr>
            <a:graphicFrameLocks noGrp="1"/>
          </p:cNvGraphicFramePr>
          <p:nvPr/>
        </p:nvGraphicFramePr>
        <p:xfrm>
          <a:off x="762000" y="2514600"/>
          <a:ext cx="10668000" cy="1930400"/>
        </p:xfrm>
        <a:graphic>
          <a:graphicData uri="http://schemas.openxmlformats.org/drawingml/2006/table">
            <a:tbl>
              <a:tblPr/>
              <a:tblGrid>
                <a:gridCol w="2133600"/>
                <a:gridCol w="1280160"/>
                <a:gridCol w="4480560"/>
                <a:gridCol w="2773680"/>
              </a:tblGrid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VARIABLE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 spc="10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COEF.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 spc="10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IMPACTO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00" noProof="1" b="1" spc="10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SIGNIFICANCIA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E23B3B"/>
                          </a:solidFill>
                          <a:latin typeface="Liter"/>
                          <a:ea typeface="Liter"/>
                        </a:rPr>
                        <a:t>Total_PDM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E23B3B"/>
                          </a:solidFill>
                          <a:latin typeface="Liter"/>
                          <a:ea typeface="Liter"/>
                        </a:rPr>
                        <a:t>+0.279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E23B3B"/>
                          </a:solidFill>
                          <a:latin typeface="Liter"/>
                          <a:ea typeface="Liter"/>
                        </a:rPr>
                        <a:t>Cada prueba de manejo = +0.28 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 b="1">
                          <a:solidFill>
                            <a:srgbClr val="E23B3B"/>
                          </a:solidFill>
                          <a:latin typeface="Liter"/>
                          <a:ea typeface="Liter"/>
                        </a:rPr>
                        <a:t>Sí — p = 0.010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Total_SDC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+0.140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Cada solicitud de crédito = +0.14 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6B7280"/>
                          </a:solidFill>
                          <a:latin typeface="Liter"/>
                          <a:ea typeface="Liter"/>
                        </a:rPr>
                        <a:t>No — p = 0.110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4826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Total_Leads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−0.101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Más leads no significa más 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150" noProof="1">
                          <a:solidFill>
                            <a:srgbClr val="6B7280"/>
                          </a:solidFill>
                          <a:latin typeface="Liter"/>
                          <a:ea typeface="Liter"/>
                        </a:rPr>
                        <a:t>No — p = 0.138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insight-panel"/>
          <p:cNvSpPr/>
          <p:nvPr/>
        </p:nvSpPr>
        <p:spPr>
          <a:xfrm>
            <a:off x="762000" y="4800600"/>
            <a:ext cx="10668000" cy="1041400"/>
          </a:xfrm>
          <a:prstGeom prst="rect">
            <a:avLst/>
          </a:prstGeom>
          <a:solidFill>
            <a:srgbClr val="F4F7FB"/>
          </a:solidFill>
          <a:ln>
            <a:noFill/>
          </a:ln>
        </p:spPr>
      </p:sp>
      <p:sp>
        <p:nvSpPr>
          <p:cNvPr id="12" name="insight-acento"/>
          <p:cNvSpPr/>
          <p:nvPr/>
        </p:nvSpPr>
        <p:spPr>
          <a:xfrm>
            <a:off x="762000" y="4800600"/>
            <a:ext cx="50800" cy="1041400"/>
          </a:xfrm>
          <a:prstGeom prst="rect">
            <a:avLst/>
          </a:prstGeom>
          <a:solidFill>
            <a:srgbClr val="2E6BE6"/>
          </a:solidFill>
          <a:ln>
            <a:noFill/>
          </a:ln>
        </p:spPr>
      </p:sp>
      <p:sp>
        <p:nvSpPr>
          <p:cNvPr id="13" name="insight-label"/>
          <p:cNvSpPr txBox="1"/>
          <p:nvPr/>
        </p:nvSpPr>
        <p:spPr>
          <a:xfrm>
            <a:off x="1016000" y="4953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50" kern="0">
                <a:solidFill>
                  <a:srgbClr val="2E6BE6"/>
                </a:solidFill>
                <a:latin typeface="MiSans"/>
                <a:ea typeface="MiSans"/>
              </a:rPr>
              <a:t>INSIGHT CLAVE</a:t>
            </a:r>
            <a:endParaRPr lang="en-US" sz="1000" noProof="1"/>
          </a:p>
        </p:txBody>
      </p:sp>
      <p:sp>
        <p:nvSpPr>
          <p:cNvPr id="14" name="insight-texto"/>
          <p:cNvSpPr txBox="1"/>
          <p:nvPr/>
        </p:nvSpPr>
        <p:spPr>
          <a:xfrm>
            <a:off x="1016000" y="51816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33415C"/>
                </a:solidFill>
                <a:latin typeface="MiSans"/>
                <a:ea typeface="MiSans"/>
              </a:rPr>
              <a:t>La cantidad de leads asignados no predice las ventas (p = 0.138). Lo que sí predice es la cantidad de pruebas de manejo realizadas (p = 0.010): la calidad del proceso supera a la cantidad de oportunidades.</a:t>
            </a:r>
            <a:endParaRPr lang="en-US" sz="1200" noProof="1"/>
          </a:p>
        </p:txBody>
      </p:sp>
      <p:sp>
        <p:nvSpPr>
          <p:cNvPr id="15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DE3EC"/>
          </a:solidFill>
          <a:ln>
            <a:noFill/>
          </a:ln>
        </p:spPr>
      </p:sp>
      <p:sp>
        <p:nvSpPr>
          <p:cNvPr id="16" name="pie-izq"/>
          <p:cNvSpPr txBox="1"/>
          <p:nvPr/>
        </p:nvSpPr>
        <p:spPr>
          <a:xfrm>
            <a:off x="762000" y="655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94A6"/>
                </a:solidFill>
                <a:latin typeface="MiSans"/>
                <a:ea typeface="MiSans"/>
              </a:rPr>
              <a:t>Propuesta final · Equipo GAC</a:t>
            </a:r>
            <a:endParaRPr lang="en-US" sz="900" noProof="1"/>
          </a:p>
        </p:txBody>
      </p:sp>
      <p:sp>
        <p:nvSpPr>
          <p:cNvPr id="17" name="pie-der"/>
          <p:cNvSpPr txBox="1"/>
          <p:nvPr/>
        </p:nvSpPr>
        <p:spPr>
          <a:xfrm>
            <a:off x="9906000" y="6553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94A6"/>
                </a:solidFill>
                <a:latin typeface="MiSans"/>
                <a:ea typeface="MiSans"/>
              </a:rPr>
              <a:t>Diapositiva adicional 2 de 3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812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2E6BE6"/>
                </a:solidFill>
                <a:latin typeface="Liter"/>
                <a:ea typeface="Liter"/>
              </a:rPr>
              <a:t>PROPUESTA FINAL · GESTIÓN Y MÉTRICAS</a:t>
            </a:r>
            <a:endParaRPr lang="en-US" sz="1100" noProof="1"/>
          </a:p>
        </p:txBody>
      </p:sp>
      <p:sp>
        <p:nvSpPr>
          <p:cNvPr id="3" name="titulo"/>
          <p:cNvSpPr txBox="1"/>
          <p:nvPr/>
        </p:nvSpPr>
        <p:spPr>
          <a:xfrm>
            <a:off x="762000" y="5842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12263F"/>
                </a:solidFill>
                <a:latin typeface="Liter"/>
                <a:ea typeface="Liter"/>
              </a:rPr>
              <a:t>Gestión y métricas: de bonificar leads a bonificar cierres</a:t>
            </a:r>
            <a:endParaRPr lang="en-US" sz="2800" noProof="1"/>
          </a:p>
        </p:txBody>
      </p:sp>
      <p:sp>
        <p:nvSpPr>
          <p:cNvPr id="4" name="regla-azul"/>
          <p:cNvSpPr/>
          <p:nvPr/>
        </p:nvSpPr>
        <p:spPr>
          <a:xfrm>
            <a:off x="762000" y="1193800"/>
            <a:ext cx="584200" cy="50800"/>
          </a:xfrm>
          <a:prstGeom prst="rect">
            <a:avLst/>
          </a:prstGeom>
          <a:solidFill>
            <a:srgbClr val="2E6BE6"/>
          </a:solidFill>
          <a:ln>
            <a:noFill/>
          </a:ln>
        </p:spPr>
      </p:sp>
      <p:sp>
        <p:nvSpPr>
          <p:cNvPr id="5" name="marca-gac"/>
          <p:cNvSpPr txBox="1"/>
          <p:nvPr/>
        </p:nvSpPr>
        <p:spPr>
          <a:xfrm>
            <a:off x="10820400" y="304800"/>
            <a:ext cx="60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500" noProof="1" b="1">
                <a:solidFill>
                  <a:srgbClr val="12263F"/>
                </a:solidFill>
                <a:latin typeface="MiSans"/>
                <a:ea typeface="MiSans"/>
              </a:rPr>
              <a:t>GAC</a:t>
            </a:r>
            <a:endParaRPr lang="en-US" sz="1500" noProof="1"/>
          </a:p>
        </p:txBody>
      </p:sp>
      <p:sp>
        <p:nvSpPr>
          <p:cNvPr id="6" name="marca-barra"/>
          <p:cNvSpPr/>
          <p:nvPr/>
        </p:nvSpPr>
        <p:spPr>
          <a:xfrm>
            <a:off x="10998200" y="596900"/>
            <a:ext cx="431800" cy="50800"/>
          </a:xfrm>
          <a:prstGeom prst="rect">
            <a:avLst/>
          </a:prstGeom>
          <a:solidFill>
            <a:srgbClr val="E23B3B"/>
          </a:solidFill>
          <a:ln>
            <a:noFill/>
          </a:ln>
        </p:spPr>
      </p:sp>
      <p:sp>
        <p:nvSpPr>
          <p:cNvPr id="7" name="h3"/>
          <p:cNvSpPr txBox="1"/>
          <p:nvPr/>
        </p:nvSpPr>
        <p:spPr>
          <a:xfrm>
            <a:off x="762000" y="14478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E6BE6"/>
                </a:solidFill>
                <a:latin typeface="MiSans"/>
                <a:ea typeface="MiSans"/>
              </a:rPr>
              <a:t>3.</a:t>
            </a:r>
            <a:r>
              <a:rPr lang="en-US" sz="1300" noProof="1" b="1">
                <a:solidFill>
                  <a:srgbClr val="12263F"/>
                </a:solidFill>
                <a:latin typeface="MiSans"/>
                <a:ea typeface="MiSans"/>
              </a:rPr>
              <a:t> Rediseñar KPIs: de «leads» a «PDM efectivos»</a:t>
            </a:r>
            <a:endParaRPr lang="en-US" sz="1300" noProof="1"/>
          </a:p>
        </p:txBody>
      </p:sp>
      <p:sp>
        <p:nvSpPr>
          <p:cNvPr id="8" name="j3"/>
          <p:cNvSpPr txBox="1"/>
          <p:nvPr/>
        </p:nvSpPr>
        <p:spPr>
          <a:xfrm>
            <a:off x="762000" y="17272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i="1">
                <a:solidFill>
                  <a:srgbClr val="6B7280"/>
                </a:solidFill>
                <a:latin typeface="MiSans"/>
                <a:ea typeface="MiSans"/>
              </a:rPr>
              <a:t>Justificación: Total_Leads no predice ventas (p = 0.138); Total_PDM sí (p = 0.010).</a:t>
            </a:r>
            <a:endParaRPr lang="en-US" sz="1050" noProof="1"/>
          </a:p>
        </p:txBody>
      </p:sp>
      <p:sp>
        <p:nvSpPr>
          <p:cNvPr id="9" name="b3"/>
          <p:cNvSpPr txBox="1"/>
          <p:nvPr/>
        </p:nvSpPr>
        <p:spPr>
          <a:xfrm>
            <a:off x="939800" y="2133600"/>
            <a:ext cx="541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Eliminar la bonificación por volumen de leads atendidos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Scorecard del asesor: 40% PDM, 30% SDC, 30% ventas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Revisión semanal del ratio PDM/Leads por asesor</a:t>
            </a:r>
            <a:endParaRPr lang="en-US" sz="1100" noProof="1"/>
          </a:p>
        </p:txBody>
      </p:sp>
      <p:sp>
        <p:nvSpPr>
          <p:cNvPr id="10" name="h4"/>
          <p:cNvSpPr txBox="1"/>
          <p:nvPr/>
        </p:nvSpPr>
        <p:spPr>
          <a:xfrm>
            <a:off x="762000" y="31242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E6BE6"/>
                </a:solidFill>
                <a:latin typeface="MiSans"/>
                <a:ea typeface="MiSans"/>
              </a:rPr>
              <a:t>4.</a:t>
            </a:r>
            <a:r>
              <a:rPr lang="en-US" sz="1300" noProof="1" b="1">
                <a:solidFill>
                  <a:srgbClr val="12263F"/>
                </a:solidFill>
                <a:latin typeface="MiSans"/>
                <a:ea typeface="MiSans"/>
              </a:rPr>
              <a:t> Alertas tempranas con el modelo predictivo</a:t>
            </a:r>
            <a:endParaRPr lang="en-US" sz="1300" noProof="1"/>
          </a:p>
        </p:txBody>
      </p:sp>
      <p:sp>
        <p:nvSpPr>
          <p:cNvPr id="11" name="j4"/>
          <p:cNvSpPr txBox="1"/>
          <p:nvPr/>
        </p:nvSpPr>
        <p:spPr>
          <a:xfrm>
            <a:off x="762000" y="3403600"/>
            <a:ext cx="558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i="1">
                <a:solidFill>
                  <a:srgbClr val="6B7280"/>
                </a:solidFill>
                <a:latin typeface="MiSans"/>
                <a:ea typeface="MiSans"/>
              </a:rPr>
              <a:t>Justificación: con AUC = 0.815 la clasificación de leads es confiable.</a:t>
            </a:r>
            <a:endParaRPr lang="en-US" sz="1050" noProof="1"/>
          </a:p>
        </p:txBody>
      </p:sp>
      <p:sp>
        <p:nvSpPr>
          <p:cNvPr id="12" name="b4"/>
          <p:cNvSpPr txBox="1"/>
          <p:nvPr/>
        </p:nvSpPr>
        <p:spPr>
          <a:xfrm>
            <a:off x="939800" y="3810000"/>
            <a:ext cx="5410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Score de probabilidad de compra automático por lead nuevo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Score &lt; 30%: ruta de nutrición automatizada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Score &gt; 70%: intervención del gerente + prioridad de PDM</a:t>
            </a:r>
            <a:endParaRPr lang="en-US" sz="1100" noProof="1"/>
          </a:p>
        </p:txBody>
      </p:sp>
      <p:sp>
        <p:nvSpPr>
          <p:cNvPr id="13" name="h5"/>
          <p:cNvSpPr txBox="1"/>
          <p:nvPr/>
        </p:nvSpPr>
        <p:spPr>
          <a:xfrm>
            <a:off x="762000" y="48006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E6BE6"/>
                </a:solidFill>
                <a:latin typeface="MiSans"/>
                <a:ea typeface="MiSans"/>
              </a:rPr>
              <a:t>5.</a:t>
            </a:r>
            <a:r>
              <a:rPr lang="en-US" sz="1300" noProof="1" b="1">
                <a:solidFill>
                  <a:srgbClr val="12263F"/>
                </a:solidFill>
                <a:latin typeface="MiSans"/>
                <a:ea typeface="MiSans"/>
              </a:rPr>
              <a:t> Intervención del gerente en leads «calientes»</a:t>
            </a:r>
            <a:endParaRPr lang="en-US" sz="1300" noProof="1"/>
          </a:p>
        </p:txBody>
      </p:sp>
      <p:sp>
        <p:nvSpPr>
          <p:cNvPr id="14" name="b5"/>
          <p:cNvSpPr txBox="1"/>
          <p:nvPr/>
        </p:nvSpPr>
        <p:spPr>
          <a:xfrm>
            <a:off x="939800" y="5080000"/>
            <a:ext cx="5410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Todo lead con PDM + SDC cierra acompañado por el gerente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3415C"/>
                </a:solidFill>
                <a:latin typeface="MiSans"/>
                <a:ea typeface="MiSans"/>
              </a:rPr>
              <a:t>Reduce el abandono en la etapa final del embudo</a:t>
            </a:r>
            <a:endParaRPr lang="en-US" sz="1100" noProof="1"/>
          </a:p>
        </p:txBody>
      </p:sp>
      <p:sp>
        <p:nvSpPr>
          <p:cNvPr id="15" name="divisor"/>
          <p:cNvSpPr/>
          <p:nvPr/>
        </p:nvSpPr>
        <p:spPr>
          <a:xfrm>
            <a:off x="6451600" y="1447800"/>
            <a:ext cx="12700" cy="4318000"/>
          </a:xfrm>
          <a:prstGeom prst="rect">
            <a:avLst/>
          </a:prstGeom>
          <a:solidFill>
            <a:srgbClr val="DDE3EC"/>
          </a:solidFill>
          <a:ln>
            <a:noFill/>
          </a:ln>
        </p:spPr>
      </p:sp>
      <p:sp>
        <p:nvSpPr>
          <p:cNvPr id="16" name="proy-titulo"/>
          <p:cNvSpPr txBox="1"/>
          <p:nvPr/>
        </p:nvSpPr>
        <p:spPr>
          <a:xfrm>
            <a:off x="6756400" y="1447800"/>
            <a:ext cx="4673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2263F"/>
                </a:solidFill>
                <a:latin typeface="MiSans"/>
                <a:ea typeface="MiSans"/>
              </a:rPr>
              <a:t>Proyección de impacto</a:t>
            </a:r>
            <a:endParaRPr lang="en-US" sz="1300" noProof="1"/>
          </a:p>
        </p:txBody>
      </p:sp>
      <p:graphicFrame>
        <p:nvGraphicFramePr>
          <p:cNvPr id="17" name="proy-tabla"/>
          <p:cNvGraphicFramePr>
            <a:graphicFrameLocks noGrp="1"/>
          </p:cNvGraphicFramePr>
          <p:nvPr/>
        </p:nvGraphicFramePr>
        <p:xfrm>
          <a:off x="6756400" y="1778000"/>
          <a:ext cx="4673600" cy="1473200"/>
        </p:xfrm>
        <a:graphic>
          <a:graphicData uri="http://schemas.openxmlformats.org/drawingml/2006/table">
            <a:tbl>
              <a:tblPr/>
              <a:tblGrid>
                <a:gridCol w="1682496"/>
                <a:gridCol w="701040"/>
                <a:gridCol w="701040"/>
                <a:gridCol w="841248"/>
                <a:gridCol w="747776"/>
              </a:tblGrid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50" noProof="1" b="1" spc="5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ESCENARIO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PDM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SDC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VENTAS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950" noProof="1" b="1" spc="50" kern="0">
                          <a:solidFill>
                            <a:srgbClr val="12263F"/>
                          </a:solidFill>
                          <a:latin typeface="Liter"/>
                          <a:ea typeface="Liter"/>
                        </a:rPr>
                        <a:t>INCR.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12263F"/>
                      </a:solidFill>
                    </a:lnB>
                    <a:noFill/>
                  </a:tcPr>
                </a:tc>
              </a:tr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Actual (agosto)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50.7%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41.2%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58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Conservador (+10%)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60%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50%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~72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>
                          <a:solidFill>
                            <a:srgbClr val="33415C"/>
                          </a:solidFill>
                          <a:latin typeface="Liter"/>
                          <a:ea typeface="Liter"/>
                        </a:rPr>
                        <a:t>+24%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noFill/>
                  </a:tcPr>
                </a:tc>
              </a:tr>
              <a:tr h="3683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2E9E6B"/>
                          </a:solidFill>
                          <a:latin typeface="Liter"/>
                          <a:ea typeface="Liter"/>
                        </a:rPr>
                        <a:t>Óptimo (meta)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2E9E6B"/>
                          </a:solidFill>
                          <a:latin typeface="Liter"/>
                          <a:ea typeface="Liter"/>
                        </a:rPr>
                        <a:t>70%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2E9E6B"/>
                          </a:solidFill>
                          <a:latin typeface="Liter"/>
                          <a:ea typeface="Liter"/>
                        </a:rPr>
                        <a:t>60%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2E9E6B"/>
                          </a:solidFill>
                          <a:latin typeface="Liter"/>
                          <a:ea typeface="Liter"/>
                        </a:rPr>
                        <a:t>~90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solidFill>
                      <a:srgbClr val="E7F4EE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1000" noProof="1" b="1">
                          <a:solidFill>
                            <a:srgbClr val="2E9E6B"/>
                          </a:solidFill>
                          <a:latin typeface="Liter"/>
                          <a:ea typeface="Liter"/>
                        </a:rPr>
                        <a:t>+55%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8EF"/>
                      </a:solidFill>
                    </a:lnB>
                    <a:solidFill>
                      <a:srgbClr val="E7F4EE"/>
                    </a:solidFill>
                  </a:tcPr>
                </a:tc>
              </a:tr>
            </a:tbl>
          </a:graphicData>
        </a:graphic>
      </p:graphicFrame>
      <p:sp>
        <p:nvSpPr>
          <p:cNvPr id="18" name="proy-nota"/>
          <p:cNvSpPr txBox="1"/>
          <p:nvPr/>
        </p:nvSpPr>
        <p:spPr>
          <a:xfrm>
            <a:off x="6756400" y="3352800"/>
            <a:ext cx="4673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850" noProof="1">
                <a:solidFill>
                  <a:srgbClr val="8A94A6"/>
                </a:solidFill>
                <a:latin typeface="MiSans"/>
                <a:ea typeface="MiSans"/>
              </a:rPr>
              <a:t>*Proyección con los coeficientes del modelo: cada PDM adicional ≈ +0.28 ventas; cada SDC adicional ≈ +0.14 ventas.</a:t>
            </a:r>
            <a:endParaRPr lang="en-US" sz="850" noProof="1"/>
          </a:p>
        </p:txBody>
      </p:sp>
      <p:sp>
        <p:nvSpPr>
          <p:cNvPr id="19" name="stat1-label"/>
          <p:cNvSpPr txBox="1"/>
          <p:nvPr/>
        </p:nvSpPr>
        <p:spPr>
          <a:xfrm>
            <a:off x="6756400" y="3962400"/>
            <a:ext cx="1498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b="1" spc="100" kern="0">
                <a:solidFill>
                  <a:srgbClr val="6B7280"/>
                </a:solidFill>
                <a:latin typeface="MiSans"/>
                <a:ea typeface="MiSans"/>
              </a:rPr>
              <a:t>INVERSIÓN</a:t>
            </a:r>
            <a:endParaRPr lang="en-US" sz="850" noProof="1"/>
          </a:p>
        </p:txBody>
      </p:sp>
      <p:sp>
        <p:nvSpPr>
          <p:cNvPr id="20" name="stat1-valor"/>
          <p:cNvSpPr txBox="1"/>
          <p:nvPr/>
        </p:nvSpPr>
        <p:spPr>
          <a:xfrm>
            <a:off x="6756400" y="4165600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2E9E6B"/>
                </a:solidFill>
                <a:latin typeface="MiSans"/>
                <a:ea typeface="MiSans"/>
              </a:rPr>
              <a:t>Baja</a:t>
            </a:r>
            <a:endParaRPr lang="en-US" sz="2000" noProof="1"/>
          </a:p>
        </p:txBody>
      </p:sp>
      <p:sp>
        <p:nvSpPr>
          <p:cNvPr id="21" name="stat1-cap"/>
          <p:cNvSpPr txBox="1"/>
          <p:nvPr/>
        </p:nvSpPr>
        <p:spPr>
          <a:xfrm>
            <a:off x="6756400" y="4546600"/>
            <a:ext cx="1498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Capacitación y ajuste de incentivos; sin inversión en infraestructura.</a:t>
            </a:r>
            <a:endParaRPr lang="en-US" sz="900" noProof="1"/>
          </a:p>
        </p:txBody>
      </p:sp>
      <p:sp>
        <p:nvSpPr>
          <p:cNvPr id="22" name="stat2-label"/>
          <p:cNvSpPr txBox="1"/>
          <p:nvPr/>
        </p:nvSpPr>
        <p:spPr>
          <a:xfrm>
            <a:off x="8356600" y="3962400"/>
            <a:ext cx="1498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b="1" spc="100" kern="0">
                <a:solidFill>
                  <a:srgbClr val="6B7280"/>
                </a:solidFill>
                <a:latin typeface="MiSans"/>
                <a:ea typeface="MiSans"/>
              </a:rPr>
              <a:t>TIEMPO</a:t>
            </a:r>
            <a:endParaRPr lang="en-US" sz="850" noProof="1"/>
          </a:p>
        </p:txBody>
      </p:sp>
      <p:sp>
        <p:nvSpPr>
          <p:cNvPr id="23" name="stat2-valor"/>
          <p:cNvSpPr txBox="1"/>
          <p:nvPr/>
        </p:nvSpPr>
        <p:spPr>
          <a:xfrm>
            <a:off x="8356600" y="4165600"/>
            <a:ext cx="1498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E8912D"/>
                </a:solidFill>
                <a:latin typeface="MiSans"/>
                <a:ea typeface="MiSans"/>
              </a:rPr>
              <a:t>30–60 días</a:t>
            </a:r>
            <a:endParaRPr lang="en-US" sz="2000" noProof="1"/>
          </a:p>
        </p:txBody>
      </p:sp>
      <p:sp>
        <p:nvSpPr>
          <p:cNvPr id="24" name="stat2-cap"/>
          <p:cNvSpPr txBox="1"/>
          <p:nvPr/>
        </p:nvSpPr>
        <p:spPr>
          <a:xfrm>
            <a:off x="8356600" y="4546600"/>
            <a:ext cx="1498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Cambios en procesos y capacitación de asesores.</a:t>
            </a:r>
            <a:endParaRPr lang="en-US" sz="900" noProof="1"/>
          </a:p>
        </p:txBody>
      </p:sp>
      <p:sp>
        <p:nvSpPr>
          <p:cNvPr id="25" name="stat3-label"/>
          <p:cNvSpPr txBox="1"/>
          <p:nvPr/>
        </p:nvSpPr>
        <p:spPr>
          <a:xfrm>
            <a:off x="9956800" y="3962400"/>
            <a:ext cx="1473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850" noProof="1" b="1" spc="100" kern="0">
                <a:solidFill>
                  <a:srgbClr val="6B7280"/>
                </a:solidFill>
                <a:latin typeface="MiSans"/>
                <a:ea typeface="MiSans"/>
              </a:rPr>
              <a:t>ROI ESPERADO</a:t>
            </a:r>
            <a:endParaRPr lang="en-US" sz="850" noProof="1"/>
          </a:p>
        </p:txBody>
      </p:sp>
      <p:sp>
        <p:nvSpPr>
          <p:cNvPr id="26" name="stat3-valor"/>
          <p:cNvSpPr txBox="1"/>
          <p:nvPr/>
        </p:nvSpPr>
        <p:spPr>
          <a:xfrm>
            <a:off x="9956800" y="41656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000" noProof="1" b="1">
                <a:solidFill>
                  <a:srgbClr val="12263F"/>
                </a:solidFill>
                <a:latin typeface="MiSans"/>
                <a:ea typeface="MiSans"/>
              </a:rPr>
              <a:t>Alto</a:t>
            </a:r>
            <a:endParaRPr lang="en-US" sz="2000" noProof="1"/>
          </a:p>
        </p:txBody>
      </p:sp>
      <p:sp>
        <p:nvSpPr>
          <p:cNvPr id="27" name="stat3-cap"/>
          <p:cNvSpPr txBox="1"/>
          <p:nvPr/>
        </p:nvSpPr>
        <p:spPr>
          <a:xfrm>
            <a:off x="9956800" y="4546600"/>
            <a:ext cx="1473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+32 ventas al mes con costo marginal cercano a cero.</a:t>
            </a:r>
            <a:endParaRPr lang="en-US" sz="900" noProof="1"/>
          </a:p>
        </p:txBody>
      </p:sp>
      <p:sp>
        <p:nvSpPr>
          <p:cNvPr id="28" name="pie-linea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DE3EC"/>
          </a:solidFill>
          <a:ln>
            <a:noFill/>
          </a:ln>
        </p:spPr>
      </p:sp>
      <p:sp>
        <p:nvSpPr>
          <p:cNvPr id="29" name="pie-izq"/>
          <p:cNvSpPr txBox="1"/>
          <p:nvPr/>
        </p:nvSpPr>
        <p:spPr>
          <a:xfrm>
            <a:off x="762000" y="65532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8A94A6"/>
                </a:solidFill>
                <a:latin typeface="MiSans"/>
                <a:ea typeface="MiSans"/>
              </a:rPr>
              <a:t>Propuesta final · Equipo GAC</a:t>
            </a:r>
            <a:endParaRPr lang="en-US" sz="900" noProof="1"/>
          </a:p>
        </p:txBody>
      </p:sp>
      <p:sp>
        <p:nvSpPr>
          <p:cNvPr id="30" name="pie-der"/>
          <p:cNvSpPr txBox="1"/>
          <p:nvPr/>
        </p:nvSpPr>
        <p:spPr>
          <a:xfrm>
            <a:off x="9906000" y="65532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8A94A6"/>
                </a:solidFill>
                <a:latin typeface="MiSans"/>
                <a:ea typeface="MiSans"/>
              </a:rPr>
              <a:t>Diapositiva adicional 3 de 3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3</Slides>
</Properties>
</file>

<file path=docProps/core.xml><?xml version="1.0" encoding="utf-8"?>
<cp:coreProperties xmlns:dc="http://purl.org/dc/elements/1.1/" xmlns:cp="http://schemas.openxmlformats.org/package/2006/metadata/core-properties">
  <dc:title>GAC — Diapositivas adicionales (embudo, modelo y gestión)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