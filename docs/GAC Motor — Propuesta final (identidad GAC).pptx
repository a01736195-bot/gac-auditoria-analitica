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custom"/>
  <p:notesSz cx="12192000" cy="6858000"/>
  <p:embeddedFontLst>
    <p:embeddedFont>
      <p:font typeface="Liter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font" Target="fonts/font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4_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6_2.png"/><Relationship Id="rId4" Type="http://schemas.openxmlformats.org/officeDocument/2006/relationships/image" Target="../media/image6_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Relationship Id="rId3" Type="http://schemas.openxmlformats.org/officeDocument/2006/relationships/image" Target="../media/image7_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o-1"/>
          <p:cNvSpPr/>
          <p:nvPr/>
        </p:nvSpPr>
        <p:spPr>
          <a:xfrm>
            <a:off x="8382000" y="-1016000"/>
            <a:ext cx="8890000" cy="8890000"/>
          </a:xfrm>
          <a:prstGeom prst="ellipse">
            <a:avLst/>
          </a:prstGeom>
          <a:noFill/>
          <a:ln w="12700">
            <a:solidFill>
              <a:srgbClr val="26313F"/>
            </a:solidFill>
          </a:ln>
        </p:spPr>
      </p:sp>
      <p:sp>
        <p:nvSpPr>
          <p:cNvPr id="3" name="arco-2"/>
          <p:cNvSpPr/>
          <p:nvPr/>
        </p:nvSpPr>
        <p:spPr>
          <a:xfrm>
            <a:off x="9461500" y="63500"/>
            <a:ext cx="6731000" cy="6731000"/>
          </a:xfrm>
          <a:prstGeom prst="ellipse">
            <a:avLst/>
          </a:prstGeom>
          <a:noFill/>
          <a:ln w="12700">
            <a:solidFill>
              <a:srgbClr val="3A4656"/>
            </a:solidFill>
          </a:ln>
        </p:spPr>
      </p:sp>
      <p:sp>
        <p:nvSpPr>
          <p:cNvPr id="4" name="arco-3"/>
          <p:cNvSpPr/>
          <p:nvPr/>
        </p:nvSpPr>
        <p:spPr>
          <a:xfrm>
            <a:off x="10541000" y="1143000"/>
            <a:ext cx="4572000" cy="4572000"/>
          </a:xfrm>
          <a:prstGeom prst="ellipse">
            <a:avLst/>
          </a:prstGeom>
          <a:noFill/>
          <a:ln w="25400">
            <a:solidFill>
              <a:srgbClr val="EB0A1E"/>
            </a:solidFill>
          </a:ln>
        </p:spPr>
      </p:sp>
      <p:sp>
        <p:nvSpPr>
          <p:cNvPr id="5" name="arco-4"/>
          <p:cNvSpPr/>
          <p:nvPr/>
        </p:nvSpPr>
        <p:spPr>
          <a:xfrm>
            <a:off x="11493500" y="2095500"/>
            <a:ext cx="2413000" cy="2413000"/>
          </a:xfrm>
          <a:prstGeom prst="ellipse">
            <a:avLst/>
          </a:prstGeom>
          <a:noFill/>
          <a:ln w="12700">
            <a:solidFill>
              <a:srgbClr val="3A4656"/>
            </a:solidFill>
          </a:ln>
        </p:spPr>
      </p:sp>
      <p:pic>
        <p:nvPicPr>
          <p:cNvPr id="6" name="logo"/>
          <p:cNvPicPr/>
          <p:nvPr/>
        </p:nvPicPr>
        <p:blipFill>
          <a:blip r:embed="rId2"/>
          <a:srcRect t="153" b="153"/>
          <a:stretch>
            <a:fillRect/>
          </a:stretch>
        </p:blipFill>
        <p:spPr>
          <a:xfrm>
            <a:off x="711200" y="584200"/>
            <a:ext cx="1219200" cy="1117600"/>
          </a:xfrm>
          <a:prstGeom prst="rect">
            <a:avLst/>
          </a:prstGeom>
          <a:ln>
            <a:noFill/>
          </a:ln>
        </p:spPr>
      </p:pic>
      <p:sp>
        <p:nvSpPr>
          <p:cNvPr id="7" name="kicker"/>
          <p:cNvSpPr txBox="1"/>
          <p:nvPr/>
        </p:nvSpPr>
        <p:spPr>
          <a:xfrm>
            <a:off x="762000" y="2743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EQUIPO GAC · INSIGHTS</a:t>
            </a:r>
            <a:endParaRPr lang="en-US" sz="1100" noProof="1"/>
          </a:p>
        </p:txBody>
      </p:sp>
      <p:sp>
        <p:nvSpPr>
          <p:cNvPr id="8" name="titulo"/>
          <p:cNvSpPr txBox="1"/>
          <p:nvPr/>
        </p:nvSpPr>
        <p:spPr>
          <a:xfrm>
            <a:off x="762000" y="3048000"/>
            <a:ext cx="7874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8000"/>
              </a:lnSpc>
            </a:pPr>
            <a:r>
              <a:rPr lang="en-US" sz="3600" noProof="1" b="1">
                <a:solidFill>
                  <a:srgbClr val="FFFFFF"/>
                </a:solidFill>
                <a:latin typeface="Liter"/>
                <a:ea typeface="Liter"/>
              </a:rPr>
              <a:t>Propuesta final: gestión, métricas y capacitación</a:t>
            </a:r>
            <a:endParaRPr lang="en-US" sz="3600" noProof="1"/>
          </a:p>
        </p:txBody>
      </p:sp>
      <p:sp>
        <p:nvSpPr>
          <p:cNvPr id="9" name="subtitulo"/>
          <p:cNvSpPr txBox="1"/>
          <p:nvPr/>
        </p:nvSpPr>
        <p:spPr>
          <a:xfrm>
            <a:off x="762000" y="44196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C7CAD1"/>
                </a:solidFill>
                <a:latin typeface="Liter"/>
                <a:ea typeface="Liter"/>
              </a:rPr>
              <a:t>Cómo convertir los hallazgos del análisis de datos del funnel digital y de piso en resultados — versión final para presentación a dirección.</a:t>
            </a:r>
            <a:endParaRPr lang="en-US" sz="1400" noProof="1"/>
          </a:p>
        </p:txBody>
      </p:sp>
      <p:sp>
        <p:nvSpPr>
          <p:cNvPr id="10" name="regla-roja"/>
          <p:cNvSpPr/>
          <p:nvPr/>
        </p:nvSpPr>
        <p:spPr>
          <a:xfrm>
            <a:off x="762000" y="54864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11" name="nombres"/>
          <p:cNvSpPr txBox="1"/>
          <p:nvPr/>
        </p:nvSpPr>
        <p:spPr>
          <a:xfrm>
            <a:off x="762000" y="56896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Liter"/>
                <a:ea typeface="Liter"/>
              </a:rPr>
              <a:t>Carlos Lechuga · Oscar Méndez · Gabriel Omar · Josué Castillo</a:t>
            </a:r>
            <a:endParaRPr lang="en-US" sz="1150" noProof="1"/>
          </a:p>
        </p:txBody>
      </p:sp>
      <p:sp>
        <p:nvSpPr>
          <p:cNvPr id="12" name="fecha"/>
          <p:cNvSpPr txBox="1"/>
          <p:nvPr/>
        </p:nvSpPr>
        <p:spPr>
          <a:xfrm>
            <a:off x="762000" y="5969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A0A8"/>
                </a:solidFill>
                <a:latin typeface="Liter"/>
                <a:ea typeface="Liter"/>
              </a:rPr>
              <a:t>Septiembre 2026 · Presentación de 10 minutos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AGENDA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De los datos a la decisión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sp>
        <p:nvSpPr>
          <p:cNvPr id="6" name="chip-1"/>
          <p:cNvSpPr/>
          <p:nvPr/>
        </p:nvSpPr>
        <p:spPr>
          <a:xfrm>
            <a:off x="762000" y="1752600"/>
            <a:ext cx="482600" cy="482600"/>
          </a:xfrm>
          <a:prstGeom prst="roundRect">
            <a:avLst>
              <a:gd name="adj" fmla="val 14000"/>
            </a:avLst>
          </a:prstGeom>
          <a:solidFill>
            <a:srgbClr val="EB0A1E"/>
          </a:solidFill>
          <a:ln>
            <a:noFill/>
          </a:ln>
        </p:spPr>
      </p:sp>
      <p:sp>
        <p:nvSpPr>
          <p:cNvPr id="7" name="chip-1-num"/>
          <p:cNvSpPr txBox="1"/>
          <p:nvPr/>
        </p:nvSpPr>
        <p:spPr>
          <a:xfrm>
            <a:off x="762000" y="1752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Liter"/>
                <a:ea typeface="Liter"/>
              </a:rPr>
              <a:t>1</a:t>
            </a:r>
            <a:endParaRPr lang="en-US" sz="1500" noProof="1"/>
          </a:p>
        </p:txBody>
      </p:sp>
      <p:sp>
        <p:nvSpPr>
          <p:cNvPr id="8" name="item-1-titulo"/>
          <p:cNvSpPr txBox="1"/>
          <p:nvPr/>
        </p:nvSpPr>
        <p:spPr>
          <a:xfrm>
            <a:off x="1473200" y="17653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181D"/>
                </a:solidFill>
                <a:latin typeface="Liter"/>
                <a:ea typeface="Liter"/>
              </a:rPr>
              <a:t>Metodología</a:t>
            </a:r>
            <a:endParaRPr lang="en-US" sz="1500" noProof="1"/>
          </a:p>
        </p:txBody>
      </p:sp>
      <p:sp>
        <p:nvSpPr>
          <p:cNvPr id="9" name="item-1-desc"/>
          <p:cNvSpPr txBox="1"/>
          <p:nvPr/>
        </p:nvSpPr>
        <p:spPr>
          <a:xfrm>
            <a:off x="1473200" y="2044700"/>
            <a:ext cx="838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Qué datos de la agencia usamos y cómo los limpiamos</a:t>
            </a:r>
            <a:endParaRPr lang="en-US" sz="1100" noProof="1"/>
          </a:p>
        </p:txBody>
      </p:sp>
      <p:sp>
        <p:nvSpPr>
          <p:cNvPr id="10" name="div-1"/>
          <p:cNvSpPr/>
          <p:nvPr/>
        </p:nvSpPr>
        <p:spPr>
          <a:xfrm>
            <a:off x="762000" y="25400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11" name="chip-2"/>
          <p:cNvSpPr/>
          <p:nvPr/>
        </p:nvSpPr>
        <p:spPr>
          <a:xfrm>
            <a:off x="762000" y="2895600"/>
            <a:ext cx="482600" cy="482600"/>
          </a:xfrm>
          <a:prstGeom prst="roundRect">
            <a:avLst>
              <a:gd name="adj" fmla="val 14000"/>
            </a:avLst>
          </a:prstGeom>
          <a:solidFill>
            <a:srgbClr val="EB0A1E"/>
          </a:solidFill>
          <a:ln>
            <a:noFill/>
          </a:ln>
        </p:spPr>
      </p:sp>
      <p:sp>
        <p:nvSpPr>
          <p:cNvPr id="12" name="chip-2-num"/>
          <p:cNvSpPr txBox="1"/>
          <p:nvPr/>
        </p:nvSpPr>
        <p:spPr>
          <a:xfrm>
            <a:off x="762000" y="2895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Liter"/>
                <a:ea typeface="Liter"/>
              </a:rPr>
              <a:t>2</a:t>
            </a:r>
            <a:endParaRPr lang="en-US" sz="1500" noProof="1"/>
          </a:p>
        </p:txBody>
      </p:sp>
      <p:sp>
        <p:nvSpPr>
          <p:cNvPr id="13" name="item-2-titulo"/>
          <p:cNvSpPr txBox="1"/>
          <p:nvPr/>
        </p:nvSpPr>
        <p:spPr>
          <a:xfrm>
            <a:off x="1473200" y="29083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181D"/>
                </a:solidFill>
                <a:latin typeface="Liter"/>
                <a:ea typeface="Liter"/>
              </a:rPr>
              <a:t>Evidencia</a:t>
            </a:r>
            <a:endParaRPr lang="en-US" sz="1500" noProof="1"/>
          </a:p>
        </p:txBody>
      </p:sp>
      <p:sp>
        <p:nvSpPr>
          <p:cNvPr id="14" name="item-2-desc"/>
          <p:cNvSpPr txBox="1"/>
          <p:nvPr/>
        </p:nvSpPr>
        <p:spPr>
          <a:xfrm>
            <a:off x="1473200" y="3187700"/>
            <a:ext cx="838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Tres hallazgos que sostienen cada parte de la propuesta</a:t>
            </a:r>
            <a:endParaRPr lang="en-US" sz="1100" noProof="1"/>
          </a:p>
        </p:txBody>
      </p:sp>
      <p:sp>
        <p:nvSpPr>
          <p:cNvPr id="15" name="div-2"/>
          <p:cNvSpPr/>
          <p:nvPr/>
        </p:nvSpPr>
        <p:spPr>
          <a:xfrm>
            <a:off x="762000" y="36830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16" name="chip-3"/>
          <p:cNvSpPr/>
          <p:nvPr/>
        </p:nvSpPr>
        <p:spPr>
          <a:xfrm>
            <a:off x="762000" y="4038600"/>
            <a:ext cx="482600" cy="482600"/>
          </a:xfrm>
          <a:prstGeom prst="roundRect">
            <a:avLst>
              <a:gd name="adj" fmla="val 14000"/>
            </a:avLst>
          </a:prstGeom>
          <a:solidFill>
            <a:srgbClr val="EB0A1E"/>
          </a:solidFill>
          <a:ln>
            <a:noFill/>
          </a:ln>
        </p:spPr>
      </p:sp>
      <p:sp>
        <p:nvSpPr>
          <p:cNvPr id="17" name="chip-3-num"/>
          <p:cNvSpPr txBox="1"/>
          <p:nvPr/>
        </p:nvSpPr>
        <p:spPr>
          <a:xfrm>
            <a:off x="762000" y="4038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Liter"/>
                <a:ea typeface="Liter"/>
              </a:rPr>
              <a:t>3</a:t>
            </a:r>
            <a:endParaRPr lang="en-US" sz="1500" noProof="1"/>
          </a:p>
        </p:txBody>
      </p:sp>
      <p:sp>
        <p:nvSpPr>
          <p:cNvPr id="18" name="item-3-titulo"/>
          <p:cNvSpPr txBox="1"/>
          <p:nvPr/>
        </p:nvSpPr>
        <p:spPr>
          <a:xfrm>
            <a:off x="1473200" y="40513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181D"/>
                </a:solidFill>
                <a:latin typeface="Liter"/>
                <a:ea typeface="Liter"/>
              </a:rPr>
              <a:t>Propuesta final</a:t>
            </a:r>
            <a:endParaRPr lang="en-US" sz="1500" noProof="1"/>
          </a:p>
        </p:txBody>
      </p:sp>
      <p:sp>
        <p:nvSpPr>
          <p:cNvPr id="19" name="item-3-desc"/>
          <p:cNvSpPr txBox="1"/>
          <p:nvPr/>
        </p:nvSpPr>
        <p:spPr>
          <a:xfrm>
            <a:off x="1473200" y="4330700"/>
            <a:ext cx="838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Las cuatro iniciativas, priorizadas por fase</a:t>
            </a:r>
            <a:endParaRPr lang="en-US" sz="1100" noProof="1"/>
          </a:p>
        </p:txBody>
      </p:sp>
      <p:sp>
        <p:nvSpPr>
          <p:cNvPr id="20" name="div-3"/>
          <p:cNvSpPr/>
          <p:nvPr/>
        </p:nvSpPr>
        <p:spPr>
          <a:xfrm>
            <a:off x="762000" y="48260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21" name="chip-4"/>
          <p:cNvSpPr/>
          <p:nvPr/>
        </p:nvSpPr>
        <p:spPr>
          <a:xfrm>
            <a:off x="762000" y="5181600"/>
            <a:ext cx="482600" cy="482600"/>
          </a:xfrm>
          <a:prstGeom prst="roundRect">
            <a:avLst>
              <a:gd name="adj" fmla="val 14000"/>
            </a:avLst>
          </a:prstGeom>
          <a:solidFill>
            <a:srgbClr val="EB0A1E"/>
          </a:solidFill>
          <a:ln>
            <a:noFill/>
          </a:ln>
        </p:spPr>
      </p:sp>
      <p:sp>
        <p:nvSpPr>
          <p:cNvPr id="22" name="chip-4-num"/>
          <p:cNvSpPr txBox="1"/>
          <p:nvPr/>
        </p:nvSpPr>
        <p:spPr>
          <a:xfrm>
            <a:off x="762000" y="5181600"/>
            <a:ext cx="482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Liter"/>
                <a:ea typeface="Liter"/>
              </a:rPr>
              <a:t>4</a:t>
            </a:r>
            <a:endParaRPr lang="en-US" sz="1500" noProof="1"/>
          </a:p>
        </p:txBody>
      </p:sp>
      <p:sp>
        <p:nvSpPr>
          <p:cNvPr id="23" name="item-4-titulo"/>
          <p:cNvSpPr txBox="1"/>
          <p:nvPr/>
        </p:nvSpPr>
        <p:spPr>
          <a:xfrm>
            <a:off x="1473200" y="51943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6181D"/>
                </a:solidFill>
                <a:latin typeface="Liter"/>
                <a:ea typeface="Liter"/>
              </a:rPr>
              <a:t>Impacto y cierre</a:t>
            </a:r>
            <a:endParaRPr lang="en-US" sz="1500" noProof="1"/>
          </a:p>
        </p:txBody>
      </p:sp>
      <p:sp>
        <p:nvSpPr>
          <p:cNvPr id="24" name="item-4-desc"/>
          <p:cNvSpPr txBox="1"/>
          <p:nvPr/>
        </p:nvSpPr>
        <p:spPr>
          <a:xfrm>
            <a:off x="1473200" y="5473700"/>
            <a:ext cx="838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Qué gana la agencia y cuál es el siguiente paso</a:t>
            </a:r>
            <a:endParaRPr lang="en-US" sz="1100" noProof="1"/>
          </a:p>
        </p:txBody>
      </p:sp>
      <p:sp>
        <p:nvSpPr>
          <p:cNvPr id="25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26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27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02 / 11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METODOLOGÍA · FUENTES DE DATOS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De dónde sale esta propuesta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sp>
        <p:nvSpPr>
          <p:cNvPr id="6" name="subtitulo"/>
          <p:cNvSpPr txBox="1"/>
          <p:nvPr/>
        </p:nvSpPr>
        <p:spPr>
          <a:xfrm>
            <a:off x="762000" y="1346200"/>
            <a:ext cx="1016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6E747C"/>
                </a:solidFill>
                <a:latin typeface="Liter"/>
                <a:ea typeface="Liter"/>
              </a:rPr>
              <a:t>Todo lo que sigue está construido sobre las tablas operativas de la agencia, no sobre supuestos.</a:t>
            </a:r>
            <a:endParaRPr lang="en-US" sz="1250" noProof="1"/>
          </a:p>
        </p:txBody>
      </p:sp>
      <p:sp>
        <p:nvSpPr>
          <p:cNvPr id="7" name="fuentes-titulo"/>
          <p:cNvSpPr txBox="1"/>
          <p:nvPr/>
        </p:nvSpPr>
        <p:spPr>
          <a:xfrm>
            <a:off x="762000" y="177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6181D"/>
                </a:solidFill>
                <a:latin typeface="Liter"/>
                <a:ea typeface="Liter"/>
              </a:rPr>
              <a:t>Fuentes de datos utilizadas</a:t>
            </a:r>
            <a:endParaRPr lang="en-US" sz="1350" noProof="1"/>
          </a:p>
        </p:txBody>
      </p:sp>
      <p:sp>
        <p:nvSpPr>
          <p:cNvPr id="8" name="fuentes-lista"/>
          <p:cNvSpPr txBox="1"/>
          <p:nvPr/>
        </p:nvSpPr>
        <p:spPr>
          <a:xfrm>
            <a:off x="762000" y="2108200"/>
            <a:ext cx="5969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RDC y ventas mensuales de plaza (feb-2024 a jul-2026)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Afluencia a piso de 12 meses y volumen de leads por canal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668 registros de citas digitales (corte: 7-ago-2026)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Histórico de PDM y SDC de 36 asesores de piso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Desempeño mes a mes de 51 asesores (feb-2024 a jul-2026)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Retención de clientes de taller y utilidad neta de posventa</a:t>
            </a:r>
            <a:endParaRPr lang="en-US" sz="1150" noProof="1"/>
          </a:p>
        </p:txBody>
      </p:sp>
      <p:sp>
        <p:nvSpPr>
          <p:cNvPr id="9" name="limpieza-card"/>
          <p:cNvSpPr/>
          <p:nvPr/>
        </p:nvSpPr>
        <p:spPr>
          <a:xfrm>
            <a:off x="7112000" y="1778000"/>
            <a:ext cx="4318000" cy="2006600"/>
          </a:xfrm>
          <a:prstGeom prst="rect">
            <a:avLst/>
          </a:prstGeom>
          <a:solidFill>
            <a:srgbClr val="16181D"/>
          </a:solidFill>
          <a:ln>
            <a:noFill/>
          </a:ln>
        </p:spPr>
      </p:sp>
      <p:sp>
        <p:nvSpPr>
          <p:cNvPr id="10" name="limpieza-barra"/>
          <p:cNvSpPr/>
          <p:nvPr/>
        </p:nvSpPr>
        <p:spPr>
          <a:xfrm>
            <a:off x="7112000" y="1778000"/>
            <a:ext cx="43180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11" name="limpieza-label"/>
          <p:cNvSpPr txBox="1"/>
          <p:nvPr/>
        </p:nvSpPr>
        <p:spPr>
          <a:xfrm>
            <a:off x="7416800" y="2057400"/>
            <a:ext cx="37084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50" kern="0">
                <a:solidFill>
                  <a:srgbClr val="C7CAD1"/>
                </a:solidFill>
                <a:latin typeface="Liter"/>
                <a:ea typeface="Liter"/>
              </a:rPr>
              <a:t>LIMPIEZA DEL CANAL DIGITAL</a:t>
            </a:r>
            <a:endParaRPr lang="en-US" sz="1000" noProof="1"/>
          </a:p>
        </p:txBody>
      </p:sp>
      <p:sp>
        <p:nvSpPr>
          <p:cNvPr id="12" name="limpieza-num"/>
          <p:cNvSpPr txBox="1"/>
          <p:nvPr/>
        </p:nvSpPr>
        <p:spPr>
          <a:xfrm>
            <a:off x="7416800" y="2336800"/>
            <a:ext cx="3708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Liter"/>
                <a:ea typeface="Liter"/>
              </a:rPr>
              <a:t>668 → 536</a:t>
            </a:r>
            <a:endParaRPr lang="en-US" sz="3000" noProof="1"/>
          </a:p>
        </p:txBody>
      </p:sp>
      <p:sp>
        <p:nvSpPr>
          <p:cNvPr id="13" name="limpieza-desc"/>
          <p:cNvSpPr txBox="1"/>
          <p:nvPr/>
        </p:nvSpPr>
        <p:spPr>
          <a:xfrm>
            <a:off x="7416800" y="2946400"/>
            <a:ext cx="3708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C7CAD1"/>
                </a:solidFill>
                <a:latin typeface="Liter"/>
                <a:ea typeface="Liter"/>
              </a:rPr>
              <a:t>registros válidos, tras depurar nulos y valores atípicos</a:t>
            </a:r>
            <a:endParaRPr lang="en-US" sz="1100" noProof="1"/>
          </a:p>
        </p:txBody>
      </p:sp>
      <p:sp>
        <p:nvSpPr>
          <p:cNvPr id="14" name="nota-card"/>
          <p:cNvSpPr/>
          <p:nvPr/>
        </p:nvSpPr>
        <p:spPr>
          <a:xfrm>
            <a:off x="762000" y="5308600"/>
            <a:ext cx="10668000" cy="838200"/>
          </a:xfrm>
          <a:prstGeom prst="rect">
            <a:avLst/>
          </a:prstGeom>
          <a:solidFill>
            <a:srgbClr val="F5F6F8"/>
          </a:solidFill>
          <a:ln>
            <a:noFill/>
          </a:ln>
        </p:spPr>
      </p:sp>
      <p:sp>
        <p:nvSpPr>
          <p:cNvPr id="15" name="nota-barra"/>
          <p:cNvSpPr/>
          <p:nvPr/>
        </p:nvSpPr>
        <p:spPr>
          <a:xfrm>
            <a:off x="762000" y="5308600"/>
            <a:ext cx="50800" cy="8382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16" name="nota-label"/>
          <p:cNvSpPr txBox="1"/>
          <p:nvPr/>
        </p:nvSpPr>
        <p:spPr>
          <a:xfrm>
            <a:off x="1016000" y="54356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 b="1" spc="150" kern="0">
                <a:solidFill>
                  <a:srgbClr val="EB0A1E"/>
                </a:solidFill>
                <a:latin typeface="Liter"/>
                <a:ea typeface="Liter"/>
              </a:rPr>
              <a:t>NOTA DE DEPURACIÓN</a:t>
            </a:r>
            <a:endParaRPr lang="en-US" sz="950" noProof="1"/>
          </a:p>
        </p:txBody>
      </p:sp>
      <p:sp>
        <p:nvSpPr>
          <p:cNvPr id="17" name="nota-texto"/>
          <p:cNvSpPr txBox="1"/>
          <p:nvPr/>
        </p:nvSpPr>
        <p:spPr>
          <a:xfrm>
            <a:off x="1016000" y="56388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3A3F47"/>
                </a:solidFill>
                <a:latin typeface="Liter"/>
                <a:ea typeface="Liter"/>
              </a:rPr>
              <a:t>En el boxplot de ventas por asesor se conservaron a propósito los 6 vendedores que aparecen como valores atípicos: ahí está el mejor desempeño de la agencia, y borrarlos habría sido borrar la evidencia más valiosa.</a:t>
            </a:r>
            <a:endParaRPr lang="en-US" sz="1050" noProof="1"/>
          </a:p>
        </p:txBody>
      </p:sp>
      <p:sp>
        <p:nvSpPr>
          <p:cNvPr id="18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19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20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03 / 11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EVIDENCIA 1 DE 3 · PISO DE VENTAS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Lo que la agencia vigila no es lo que predice la venta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pic>
        <p:nvPicPr>
          <p:cNvPr id="6" name="chart-piso"/>
          <p:cNvPicPr/>
          <p:nvPr/>
        </p:nvPicPr>
        <p:blipFill>
          <a:blip r:embed="rId3"/>
          <a:srcRect l="22" r="22"/>
          <a:stretch>
            <a:fillRect/>
          </a:stretch>
        </p:blipFill>
        <p:spPr>
          <a:xfrm>
            <a:off x="762000" y="1600200"/>
            <a:ext cx="5588000" cy="4102100"/>
          </a:xfrm>
          <a:prstGeom prst="rect">
            <a:avLst/>
          </a:prstGeom>
          <a:ln>
            <a:noFill/>
          </a:ln>
        </p:spPr>
      </p:pic>
      <p:sp>
        <p:nvSpPr>
          <p:cNvPr id="7" name="chart-caption"/>
          <p:cNvSpPr txBox="1"/>
          <p:nvPr/>
        </p:nvSpPr>
        <p:spPr>
          <a:xfrm>
            <a:off x="762000" y="5816600"/>
            <a:ext cx="584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747C"/>
                </a:solidFill>
                <a:latin typeface="Liter"/>
                <a:ea typeface="Liter"/>
              </a:rPr>
              <a:t>Análisis de piso — histórico de PDM vs. ventas de piso (n = 36)</a:t>
            </a:r>
            <a:endParaRPr lang="en-US" sz="950" noProof="1"/>
          </a:p>
        </p:txBody>
      </p:sp>
      <p:sp>
        <p:nvSpPr>
          <p:cNvPr id="8" name="reg-titulo"/>
          <p:cNvSpPr txBox="1"/>
          <p:nvPr/>
        </p:nvSpPr>
        <p:spPr>
          <a:xfrm>
            <a:off x="6731000" y="1600200"/>
            <a:ext cx="469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6181D"/>
                </a:solidFill>
                <a:latin typeface="Liter"/>
                <a:ea typeface="Liter"/>
              </a:rPr>
              <a:t>Regresión múltiple — ventas por asesor</a:t>
            </a:r>
            <a:endParaRPr lang="en-US" sz="1350" noProof="1"/>
          </a:p>
        </p:txBody>
      </p:sp>
      <p:sp>
        <p:nvSpPr>
          <p:cNvPr id="9" name="reg-sub"/>
          <p:cNvSpPr txBox="1"/>
          <p:nvPr/>
        </p:nvSpPr>
        <p:spPr>
          <a:xfrm>
            <a:off x="6731000" y="1879600"/>
            <a:ext cx="4699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R</a:t>
            </a:r>
            <a:r>
              <a:rPr lang="en-US" sz="1100" noProof="1" baseline="30000">
                <a:solidFill>
                  <a:srgbClr val="6E747C"/>
                </a:solidFill>
                <a:latin typeface="Liter"/>
                <a:ea typeface="Liter"/>
              </a:rPr>
              <a:t>2</a:t>
            </a: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 = 0.862 · n = 51 asesores</a:t>
            </a:r>
            <a:endParaRPr lang="en-US" sz="1100" noProof="1"/>
          </a:p>
        </p:txBody>
      </p:sp>
      <p:sp>
        <p:nvSpPr>
          <p:cNvPr id="10" name="row-1-linea"/>
          <p:cNvSpPr/>
          <p:nvPr/>
        </p:nvSpPr>
        <p:spPr>
          <a:xfrm>
            <a:off x="6731000" y="2184400"/>
            <a:ext cx="4699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11" name="row-1-nombre"/>
          <p:cNvSpPr txBox="1"/>
          <p:nvPr/>
        </p:nvSpPr>
        <p:spPr>
          <a:xfrm>
            <a:off x="6731000" y="2311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6181D"/>
                </a:solidFill>
                <a:latin typeface="Liter"/>
                <a:ea typeface="Liter"/>
              </a:rPr>
              <a:t>Total_PDM</a:t>
            </a:r>
            <a:endParaRPr lang="en-US" sz="1250" noProof="1"/>
          </a:p>
        </p:txBody>
      </p:sp>
      <p:sp>
        <p:nvSpPr>
          <p:cNvPr id="12" name="row-1-coef"/>
          <p:cNvSpPr txBox="1"/>
          <p:nvPr/>
        </p:nvSpPr>
        <p:spPr>
          <a:xfrm>
            <a:off x="8737600" y="2311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50" noProof="1" b="1">
                <a:solidFill>
                  <a:srgbClr val="EB0A1E"/>
                </a:solidFill>
                <a:latin typeface="Liter"/>
                <a:ea typeface="Liter"/>
              </a:rPr>
              <a:t>+0.279</a:t>
            </a:r>
            <a:endParaRPr lang="en-US" sz="1250" noProof="1"/>
          </a:p>
        </p:txBody>
      </p:sp>
      <p:sp>
        <p:nvSpPr>
          <p:cNvPr id="13" name="row-1-p"/>
          <p:cNvSpPr txBox="1"/>
          <p:nvPr/>
        </p:nvSpPr>
        <p:spPr>
          <a:xfrm>
            <a:off x="9753600" y="23368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p = 0.010</a:t>
            </a:r>
            <a:endParaRPr lang="en-US" sz="1100" noProof="1"/>
          </a:p>
        </p:txBody>
      </p:sp>
      <p:sp>
        <p:nvSpPr>
          <p:cNvPr id="14" name="row-1-mark"/>
          <p:cNvSpPr txBox="1"/>
          <p:nvPr/>
        </p:nvSpPr>
        <p:spPr>
          <a:xfrm>
            <a:off x="10972800" y="23114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1E7A4F"/>
                </a:solidFill>
                <a:latin typeface="Liter"/>
                <a:ea typeface="Liter"/>
              </a:rPr>
              <a:t>✓</a:t>
            </a:r>
            <a:endParaRPr lang="en-US" sz="1300" noProof="1"/>
          </a:p>
        </p:txBody>
      </p:sp>
      <p:sp>
        <p:nvSpPr>
          <p:cNvPr id="15" name="row-2-linea"/>
          <p:cNvSpPr/>
          <p:nvPr/>
        </p:nvSpPr>
        <p:spPr>
          <a:xfrm>
            <a:off x="6731000" y="2692400"/>
            <a:ext cx="4699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16" name="row-2-nombre"/>
          <p:cNvSpPr txBox="1"/>
          <p:nvPr/>
        </p:nvSpPr>
        <p:spPr>
          <a:xfrm>
            <a:off x="6731000" y="2819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6181D"/>
                </a:solidFill>
                <a:latin typeface="Liter"/>
                <a:ea typeface="Liter"/>
              </a:rPr>
              <a:t>Total_SDC</a:t>
            </a:r>
            <a:endParaRPr lang="en-US" sz="1250" noProof="1"/>
          </a:p>
        </p:txBody>
      </p:sp>
      <p:sp>
        <p:nvSpPr>
          <p:cNvPr id="17" name="row-2-coef"/>
          <p:cNvSpPr txBox="1"/>
          <p:nvPr/>
        </p:nvSpPr>
        <p:spPr>
          <a:xfrm>
            <a:off x="8737600" y="2819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50" noProof="1" b="1">
                <a:solidFill>
                  <a:srgbClr val="3A3F47"/>
                </a:solidFill>
                <a:latin typeface="Liter"/>
                <a:ea typeface="Liter"/>
              </a:rPr>
              <a:t>+0.140</a:t>
            </a:r>
            <a:endParaRPr lang="en-US" sz="1250" noProof="1"/>
          </a:p>
        </p:txBody>
      </p:sp>
      <p:sp>
        <p:nvSpPr>
          <p:cNvPr id="18" name="row-2-p"/>
          <p:cNvSpPr txBox="1"/>
          <p:nvPr/>
        </p:nvSpPr>
        <p:spPr>
          <a:xfrm>
            <a:off x="9753600" y="28448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p = 0.110</a:t>
            </a:r>
            <a:endParaRPr lang="en-US" sz="1100" noProof="1"/>
          </a:p>
        </p:txBody>
      </p:sp>
      <p:sp>
        <p:nvSpPr>
          <p:cNvPr id="19" name="row-2-mark"/>
          <p:cNvSpPr txBox="1"/>
          <p:nvPr/>
        </p:nvSpPr>
        <p:spPr>
          <a:xfrm>
            <a:off x="10972800" y="28194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EB0A1E"/>
                </a:solidFill>
                <a:latin typeface="Liter"/>
                <a:ea typeface="Liter"/>
              </a:rPr>
              <a:t>✗</a:t>
            </a:r>
            <a:endParaRPr lang="en-US" sz="1300" noProof="1"/>
          </a:p>
        </p:txBody>
      </p:sp>
      <p:sp>
        <p:nvSpPr>
          <p:cNvPr id="20" name="row-3-linea"/>
          <p:cNvSpPr/>
          <p:nvPr/>
        </p:nvSpPr>
        <p:spPr>
          <a:xfrm>
            <a:off x="6731000" y="3200400"/>
            <a:ext cx="4699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21" name="row-3-nombre"/>
          <p:cNvSpPr txBox="1"/>
          <p:nvPr/>
        </p:nvSpPr>
        <p:spPr>
          <a:xfrm>
            <a:off x="6731000" y="3327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6181D"/>
                </a:solidFill>
                <a:latin typeface="Liter"/>
                <a:ea typeface="Liter"/>
              </a:rPr>
              <a:t>Total_Leads</a:t>
            </a:r>
            <a:endParaRPr lang="en-US" sz="1250" noProof="1"/>
          </a:p>
        </p:txBody>
      </p:sp>
      <p:sp>
        <p:nvSpPr>
          <p:cNvPr id="22" name="row-3-coef"/>
          <p:cNvSpPr txBox="1"/>
          <p:nvPr/>
        </p:nvSpPr>
        <p:spPr>
          <a:xfrm>
            <a:off x="8737600" y="3327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50" noProof="1" b="1">
                <a:solidFill>
                  <a:srgbClr val="3A3F47"/>
                </a:solidFill>
                <a:latin typeface="Liter"/>
                <a:ea typeface="Liter"/>
              </a:rPr>
              <a:t>−0.101</a:t>
            </a:r>
            <a:endParaRPr lang="en-US" sz="1250" noProof="1"/>
          </a:p>
        </p:txBody>
      </p:sp>
      <p:sp>
        <p:nvSpPr>
          <p:cNvPr id="23" name="row-3-p"/>
          <p:cNvSpPr txBox="1"/>
          <p:nvPr/>
        </p:nvSpPr>
        <p:spPr>
          <a:xfrm>
            <a:off x="9753600" y="3352800"/>
            <a:ext cx="111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6E747C"/>
                </a:solidFill>
                <a:latin typeface="Liter"/>
                <a:ea typeface="Liter"/>
              </a:rPr>
              <a:t>p = 0.138</a:t>
            </a:r>
            <a:endParaRPr lang="en-US" sz="1100" noProof="1"/>
          </a:p>
        </p:txBody>
      </p:sp>
      <p:sp>
        <p:nvSpPr>
          <p:cNvPr id="24" name="row-3-mark"/>
          <p:cNvSpPr txBox="1"/>
          <p:nvPr/>
        </p:nvSpPr>
        <p:spPr>
          <a:xfrm>
            <a:off x="10972800" y="33274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EB0A1E"/>
                </a:solidFill>
                <a:latin typeface="Liter"/>
                <a:ea typeface="Liter"/>
              </a:rPr>
              <a:t>✗</a:t>
            </a:r>
            <a:endParaRPr lang="en-US" sz="1300" noProof="1"/>
          </a:p>
        </p:txBody>
      </p:sp>
      <p:sp>
        <p:nvSpPr>
          <p:cNvPr id="25" name="callout-card"/>
          <p:cNvSpPr/>
          <p:nvPr/>
        </p:nvSpPr>
        <p:spPr>
          <a:xfrm>
            <a:off x="6731000" y="3810000"/>
            <a:ext cx="4699000" cy="1498600"/>
          </a:xfrm>
          <a:prstGeom prst="rect">
            <a:avLst/>
          </a:prstGeom>
          <a:solidFill>
            <a:srgbClr val="FDE8EA"/>
          </a:solidFill>
          <a:ln>
            <a:noFill/>
          </a:ln>
        </p:spPr>
      </p:sp>
      <p:sp>
        <p:nvSpPr>
          <p:cNvPr id="26" name="callout-barra"/>
          <p:cNvSpPr/>
          <p:nvPr/>
        </p:nvSpPr>
        <p:spPr>
          <a:xfrm>
            <a:off x="6731000" y="3810000"/>
            <a:ext cx="50800" cy="14986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27" name="callout-texto"/>
          <p:cNvSpPr txBox="1"/>
          <p:nvPr/>
        </p:nvSpPr>
        <p:spPr>
          <a:xfrm>
            <a:off x="6985000" y="3987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La cantidad de leads no predice ventas (p = 0.138); la cantidad de PDM sí (p = 0.010). → Justifica el punto 3: rediseñar KPIs de «leads» a «PDM efectivos».</a:t>
            </a:r>
            <a:endParaRPr lang="en-US" sz="1100" noProof="1"/>
          </a:p>
        </p:txBody>
      </p:sp>
      <p:sp>
        <p:nvSpPr>
          <p:cNvPr id="28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29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30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04 / 11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EVIDENCIA 2 DE 3 · CANAL DIGITAL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El embudo se rompe después del crédito, no antes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sp>
        <p:nvSpPr>
          <p:cNvPr id="6" name="lbl-1"/>
          <p:cNvSpPr txBox="1"/>
          <p:nvPr/>
        </p:nvSpPr>
        <p:spPr>
          <a:xfrm>
            <a:off x="762000" y="18288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Leads totales</a:t>
            </a:r>
            <a:endParaRPr lang="en-US" sz="1150" noProof="1"/>
          </a:p>
        </p:txBody>
      </p:sp>
      <p:sp>
        <p:nvSpPr>
          <p:cNvPr id="7" name="lbl-2"/>
          <p:cNvSpPr txBox="1"/>
          <p:nvPr/>
        </p:nvSpPr>
        <p:spPr>
          <a:xfrm>
            <a:off x="762000" y="26162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Hicieron PDM</a:t>
            </a:r>
            <a:endParaRPr lang="en-US" sz="1150" noProof="1"/>
          </a:p>
        </p:txBody>
      </p:sp>
      <p:sp>
        <p:nvSpPr>
          <p:cNvPr id="8" name="lbl-3"/>
          <p:cNvSpPr txBox="1"/>
          <p:nvPr/>
        </p:nvSpPr>
        <p:spPr>
          <a:xfrm>
            <a:off x="762000" y="34036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Solicitaron SDC</a:t>
            </a:r>
            <a:endParaRPr lang="en-US" sz="1150" noProof="1"/>
          </a:p>
        </p:txBody>
      </p:sp>
      <p:sp>
        <p:nvSpPr>
          <p:cNvPr id="9" name="lbl-4"/>
          <p:cNvSpPr txBox="1"/>
          <p:nvPr/>
        </p:nvSpPr>
        <p:spPr>
          <a:xfrm>
            <a:off x="762000" y="4191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Venta concretada</a:t>
            </a:r>
            <a:endParaRPr lang="en-US" sz="1150" noProof="1"/>
          </a:p>
        </p:txBody>
      </p:sp>
      <p:sp>
        <p:nvSpPr>
          <p:cNvPr id="10" name="bar-1"/>
          <p:cNvSpPr/>
          <p:nvPr/>
        </p:nvSpPr>
        <p:spPr>
          <a:xfrm>
            <a:off x="2819400" y="1727200"/>
            <a:ext cx="3937000" cy="457200"/>
          </a:xfrm>
          <a:prstGeom prst="roundRect">
            <a:avLst>
              <a:gd name="adj" fmla="val 16000"/>
            </a:avLst>
          </a:prstGeom>
          <a:solidFill>
            <a:srgbClr val="EB0A1E"/>
          </a:solidFill>
          <a:ln>
            <a:noFill/>
          </a:ln>
        </p:spPr>
      </p:sp>
      <p:sp>
        <p:nvSpPr>
          <p:cNvPr id="11" name="bar-2"/>
          <p:cNvSpPr/>
          <p:nvPr/>
        </p:nvSpPr>
        <p:spPr>
          <a:xfrm>
            <a:off x="2819400" y="2514600"/>
            <a:ext cx="1993900" cy="457200"/>
          </a:xfrm>
          <a:prstGeom prst="roundRect">
            <a:avLst>
              <a:gd name="adj" fmla="val 16000"/>
            </a:avLst>
          </a:prstGeom>
          <a:solidFill>
            <a:srgbClr val="B30818"/>
          </a:solidFill>
          <a:ln>
            <a:noFill/>
          </a:ln>
        </p:spPr>
      </p:sp>
      <p:sp>
        <p:nvSpPr>
          <p:cNvPr id="12" name="bar-3"/>
          <p:cNvSpPr/>
          <p:nvPr/>
        </p:nvSpPr>
        <p:spPr>
          <a:xfrm>
            <a:off x="2819400" y="3302000"/>
            <a:ext cx="1612900" cy="457200"/>
          </a:xfrm>
          <a:prstGeom prst="roundRect">
            <a:avLst>
              <a:gd name="adj" fmla="val 16000"/>
            </a:avLst>
          </a:prstGeom>
          <a:solidFill>
            <a:srgbClr val="8F0714"/>
          </a:solidFill>
          <a:ln>
            <a:noFill/>
          </a:ln>
        </p:spPr>
      </p:sp>
      <p:sp>
        <p:nvSpPr>
          <p:cNvPr id="13" name="bar-4"/>
          <p:cNvSpPr/>
          <p:nvPr/>
        </p:nvSpPr>
        <p:spPr>
          <a:xfrm>
            <a:off x="2819400" y="4089400"/>
            <a:ext cx="330200" cy="457200"/>
          </a:xfrm>
          <a:prstGeom prst="roundRect">
            <a:avLst>
              <a:gd name="adj" fmla="val 16000"/>
            </a:avLst>
          </a:prstGeom>
          <a:solidFill>
            <a:srgbClr val="16181D"/>
          </a:solidFill>
          <a:ln>
            <a:noFill/>
          </a:ln>
        </p:spPr>
      </p:sp>
      <p:sp>
        <p:nvSpPr>
          <p:cNvPr id="14" name="val-1"/>
          <p:cNvSpPr txBox="1"/>
          <p:nvPr/>
        </p:nvSpPr>
        <p:spPr>
          <a:xfrm>
            <a:off x="6858000" y="18288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668 (100.0%)</a:t>
            </a:r>
            <a:endParaRPr lang="en-US" sz="1200" noProof="1"/>
          </a:p>
        </p:txBody>
      </p:sp>
      <p:sp>
        <p:nvSpPr>
          <p:cNvPr id="15" name="val-2"/>
          <p:cNvSpPr txBox="1"/>
          <p:nvPr/>
        </p:nvSpPr>
        <p:spPr>
          <a:xfrm>
            <a:off x="4914900" y="26162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339 (50.7%)</a:t>
            </a:r>
            <a:endParaRPr lang="en-US" sz="1200" noProof="1"/>
          </a:p>
        </p:txBody>
      </p:sp>
      <p:sp>
        <p:nvSpPr>
          <p:cNvPr id="16" name="val-3"/>
          <p:cNvSpPr txBox="1"/>
          <p:nvPr/>
        </p:nvSpPr>
        <p:spPr>
          <a:xfrm>
            <a:off x="4533900" y="34036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275 (41.2%)</a:t>
            </a:r>
            <a:endParaRPr lang="en-US" sz="1200" noProof="1"/>
          </a:p>
        </p:txBody>
      </p:sp>
      <p:sp>
        <p:nvSpPr>
          <p:cNvPr id="17" name="val-4"/>
          <p:cNvSpPr txBox="1"/>
          <p:nvPr/>
        </p:nvSpPr>
        <p:spPr>
          <a:xfrm>
            <a:off x="3251200" y="41910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58 (8.7%)</a:t>
            </a:r>
            <a:endParaRPr lang="en-US" sz="1200" noProof="1"/>
          </a:p>
        </p:txBody>
      </p:sp>
      <p:sp>
        <p:nvSpPr>
          <p:cNvPr id="18" name="nota-corte"/>
          <p:cNvSpPr txBox="1"/>
          <p:nvPr/>
        </p:nvSpPr>
        <p:spPr>
          <a:xfrm>
            <a:off x="762000" y="4800600"/>
            <a:ext cx="711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747C"/>
                </a:solidFill>
                <a:latin typeface="Liter"/>
                <a:ea typeface="Liter"/>
              </a:rPr>
              <a:t>Corte al 7 de agosto de 2026. El embudo corresponde al canal digital de la agencia, no a su operación total.</a:t>
            </a:r>
            <a:endParaRPr lang="en-US" sz="1000" noProof="1"/>
          </a:p>
        </p:txBody>
      </p:sp>
      <p:sp>
        <p:nvSpPr>
          <p:cNvPr id="19" name="stat-1-card"/>
          <p:cNvSpPr/>
          <p:nvPr/>
        </p:nvSpPr>
        <p:spPr>
          <a:xfrm>
            <a:off x="8128000" y="1727200"/>
            <a:ext cx="3302000" cy="1320800"/>
          </a:xfrm>
          <a:prstGeom prst="rect">
            <a:avLst/>
          </a:prstGeom>
          <a:solidFill>
            <a:srgbClr val="F5F6F8"/>
          </a:solidFill>
          <a:ln>
            <a:noFill/>
          </a:ln>
        </p:spPr>
      </p:sp>
      <p:sp>
        <p:nvSpPr>
          <p:cNvPr id="20" name="stat-1-label"/>
          <p:cNvSpPr txBox="1"/>
          <p:nvPr/>
        </p:nvSpPr>
        <p:spPr>
          <a:xfrm>
            <a:off x="8382000" y="19050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 b="1" spc="150" kern="0">
                <a:solidFill>
                  <a:srgbClr val="6E747C"/>
                </a:solidFill>
                <a:latin typeface="Liter"/>
                <a:ea typeface="Liter"/>
              </a:rPr>
              <a:t>CONVERSIÓN GLOBAL</a:t>
            </a:r>
            <a:endParaRPr lang="en-US" sz="950" noProof="1"/>
          </a:p>
        </p:txBody>
      </p:sp>
      <p:sp>
        <p:nvSpPr>
          <p:cNvPr id="21" name="stat-1-num"/>
          <p:cNvSpPr txBox="1"/>
          <p:nvPr/>
        </p:nvSpPr>
        <p:spPr>
          <a:xfrm>
            <a:off x="8382000" y="21336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EB0A1E"/>
                </a:solidFill>
                <a:latin typeface="Liter"/>
                <a:ea typeface="Liter"/>
              </a:rPr>
              <a:t>8.7%</a:t>
            </a:r>
            <a:endParaRPr lang="en-US" sz="3000" noProof="1"/>
          </a:p>
        </p:txBody>
      </p:sp>
      <p:sp>
        <p:nvSpPr>
          <p:cNvPr id="22" name="stat-1-desc"/>
          <p:cNvSpPr txBox="1"/>
          <p:nvPr/>
        </p:nvSpPr>
        <p:spPr>
          <a:xfrm>
            <a:off x="8382000" y="26416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747C"/>
                </a:solidFill>
                <a:latin typeface="Liter"/>
                <a:ea typeface="Liter"/>
              </a:rPr>
              <a:t>vs. 12–15% del benchmark del sector automotriz</a:t>
            </a:r>
            <a:endParaRPr lang="en-US" sz="1000" noProof="1"/>
          </a:p>
        </p:txBody>
      </p:sp>
      <p:sp>
        <p:nvSpPr>
          <p:cNvPr id="23" name="stat-2-card"/>
          <p:cNvSpPr/>
          <p:nvPr/>
        </p:nvSpPr>
        <p:spPr>
          <a:xfrm>
            <a:off x="8128000" y="3225800"/>
            <a:ext cx="3302000" cy="1320800"/>
          </a:xfrm>
          <a:prstGeom prst="rect">
            <a:avLst/>
          </a:prstGeom>
          <a:solidFill>
            <a:srgbClr val="F5F6F8"/>
          </a:solidFill>
          <a:ln>
            <a:noFill/>
          </a:ln>
        </p:spPr>
      </p:sp>
      <p:sp>
        <p:nvSpPr>
          <p:cNvPr id="24" name="stat-2-label"/>
          <p:cNvSpPr txBox="1"/>
          <p:nvPr/>
        </p:nvSpPr>
        <p:spPr>
          <a:xfrm>
            <a:off x="8382000" y="34036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 b="1" spc="150" kern="0">
                <a:solidFill>
                  <a:srgbClr val="6E747C"/>
                </a:solidFill>
                <a:latin typeface="Liter"/>
                <a:ea typeface="Liter"/>
              </a:rPr>
              <a:t>LEADS CON CRÉDITO (SDC)</a:t>
            </a:r>
            <a:endParaRPr lang="en-US" sz="950" noProof="1"/>
          </a:p>
        </p:txBody>
      </p:sp>
      <p:sp>
        <p:nvSpPr>
          <p:cNvPr id="25" name="stat-2-num"/>
          <p:cNvSpPr txBox="1"/>
          <p:nvPr/>
        </p:nvSpPr>
        <p:spPr>
          <a:xfrm>
            <a:off x="8382000" y="3632200"/>
            <a:ext cx="2794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 b="1">
                <a:solidFill>
                  <a:srgbClr val="16181D"/>
                </a:solidFill>
                <a:latin typeface="Liter"/>
                <a:ea typeface="Liter"/>
              </a:rPr>
              <a:t>4.1×</a:t>
            </a:r>
            <a:endParaRPr lang="en-US" sz="3000" noProof="1"/>
          </a:p>
        </p:txBody>
      </p:sp>
      <p:sp>
        <p:nvSpPr>
          <p:cNvPr id="26" name="stat-2-desc"/>
          <p:cNvSpPr txBox="1"/>
          <p:nvPr/>
        </p:nvSpPr>
        <p:spPr>
          <a:xfrm>
            <a:off x="8382000" y="41402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E747C"/>
                </a:solidFill>
                <a:latin typeface="Liter"/>
                <a:ea typeface="Liter"/>
              </a:rPr>
              <a:t>más probabilidad de compra frente a un lead sin crédito solicitado</a:t>
            </a:r>
            <a:endParaRPr lang="en-US" sz="1000" noProof="1"/>
          </a:p>
        </p:txBody>
      </p:sp>
      <p:sp>
        <p:nvSpPr>
          <p:cNvPr id="27" name="callout-card"/>
          <p:cNvSpPr/>
          <p:nvPr/>
        </p:nvSpPr>
        <p:spPr>
          <a:xfrm>
            <a:off x="762000" y="5384800"/>
            <a:ext cx="10668000" cy="685800"/>
          </a:xfrm>
          <a:prstGeom prst="rect">
            <a:avLst/>
          </a:prstGeom>
          <a:solidFill>
            <a:srgbClr val="FDE8EA"/>
          </a:solidFill>
          <a:ln>
            <a:noFill/>
          </a:ln>
        </p:spPr>
      </p:sp>
      <p:sp>
        <p:nvSpPr>
          <p:cNvPr id="28" name="callout-barra"/>
          <p:cNvSpPr/>
          <p:nvPr/>
        </p:nvSpPr>
        <p:spPr>
          <a:xfrm>
            <a:off x="762000" y="5384800"/>
            <a:ext cx="50800" cy="685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29" name="callout-texto"/>
          <p:cNvSpPr txBox="1"/>
          <p:nvPr/>
        </p:nvSpPr>
        <p:spPr>
          <a:xfrm>
            <a:off x="1016000" y="55372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El mayor cuello de botella está entre SDC y venta cerrada. → Justifica el punto 5 (gerente en leads calientes) y el scoring del punto 4.</a:t>
            </a:r>
            <a:endParaRPr lang="en-US" sz="1100" noProof="1"/>
          </a:p>
        </p:txBody>
      </p:sp>
      <p:sp>
        <p:nvSpPr>
          <p:cNvPr id="30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31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32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05 / 11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CONTEXTO ADICIONAL · PLAZA Y POSVENTA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Dos señales más: calidad del dato antes que volumen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pic>
        <p:nvPicPr>
          <p:cNvPr id="6" name="chart-rdc"/>
          <p:cNvPicPr/>
          <p:nvPr/>
        </p:nvPicPr>
        <p:blipFill>
          <a:blip r:embed="rId3"/>
          <a:srcRect l="78" r="78"/>
          <a:stretch>
            <a:fillRect/>
          </a:stretch>
        </p:blipFill>
        <p:spPr>
          <a:xfrm>
            <a:off x="1765300" y="1600200"/>
            <a:ext cx="3327400" cy="3175000"/>
          </a:xfrm>
          <a:prstGeom prst="rect">
            <a:avLst/>
          </a:prstGeom>
          <a:ln>
            <a:noFill/>
          </a:ln>
        </p:spPr>
      </p:pic>
      <p:sp>
        <p:nvSpPr>
          <p:cNvPr id="7" name="caption-rdc"/>
          <p:cNvSpPr txBox="1"/>
          <p:nvPr/>
        </p:nvSpPr>
        <p:spPr>
          <a:xfrm>
            <a:off x="762000" y="48768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6E747C"/>
                </a:solidFill>
                <a:latin typeface="Liter"/>
                <a:ea typeface="Liter"/>
              </a:rPr>
              <a:t>RDC comercial → ventas de plaza · r = 0.901 · R</a:t>
            </a:r>
            <a:r>
              <a:rPr lang="en-US" sz="950" noProof="1" baseline="30000">
                <a:solidFill>
                  <a:srgbClr val="6E747C"/>
                </a:solidFill>
                <a:latin typeface="Liter"/>
                <a:ea typeface="Liter"/>
              </a:rPr>
              <a:t>2</a:t>
            </a:r>
            <a:r>
              <a:rPr lang="en-US" sz="950" noProof="1">
                <a:solidFill>
                  <a:srgbClr val="6E747C"/>
                </a:solidFill>
                <a:latin typeface="Liter"/>
                <a:ea typeface="Liter"/>
              </a:rPr>
              <a:t> = 0.812 · p = 0.037</a:t>
            </a:r>
            <a:endParaRPr lang="en-US" sz="950" noProof="1"/>
          </a:p>
        </p:txBody>
      </p:sp>
      <p:sp>
        <p:nvSpPr>
          <p:cNvPr id="8" name="nota-rdc"/>
          <p:cNvSpPr txBox="1"/>
          <p:nvPr/>
        </p:nvSpPr>
        <p:spPr>
          <a:xfrm>
            <a:off x="762000" y="5156200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EB0A1E"/>
                </a:solidFill>
                <a:latin typeface="Liter"/>
                <a:ea typeface="Liter"/>
              </a:rPr>
              <a:t>Cada 10 puntos de RDC ≈ +3.2 autos vendidos</a:t>
            </a:r>
            <a:endParaRPr lang="en-US" sz="1050" noProof="1"/>
          </a:p>
        </p:txBody>
      </p:sp>
      <p:pic>
        <p:nvPicPr>
          <p:cNvPr id="9" name="chart-ret"/>
          <p:cNvPicPr/>
          <p:nvPr/>
        </p:nvPicPr>
        <p:blipFill>
          <a:blip r:embed="rId4"/>
          <a:srcRect l="71" r="71"/>
          <a:stretch>
            <a:fillRect/>
          </a:stretch>
        </p:blipFill>
        <p:spPr>
          <a:xfrm>
            <a:off x="7010400" y="1600200"/>
            <a:ext cx="3492500" cy="3175000"/>
          </a:xfrm>
          <a:prstGeom prst="rect">
            <a:avLst/>
          </a:prstGeom>
          <a:ln>
            <a:noFill/>
          </a:ln>
        </p:spPr>
      </p:pic>
      <p:sp>
        <p:nvSpPr>
          <p:cNvPr id="10" name="caption-ret"/>
          <p:cNvSpPr txBox="1"/>
          <p:nvPr/>
        </p:nvSpPr>
        <p:spPr>
          <a:xfrm>
            <a:off x="6096000" y="48768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6E747C"/>
                </a:solidFill>
                <a:latin typeface="Liter"/>
                <a:ea typeface="Liter"/>
              </a:rPr>
              <a:t>Retención de taller → utilidad posventa · r = 0.614 · p = 0.270</a:t>
            </a:r>
            <a:endParaRPr lang="en-US" sz="950" noProof="1"/>
          </a:p>
        </p:txBody>
      </p:sp>
      <p:sp>
        <p:nvSpPr>
          <p:cNvPr id="11" name="nota-ret"/>
          <p:cNvSpPr txBox="1"/>
          <p:nvPr/>
        </p:nvSpPr>
        <p:spPr>
          <a:xfrm>
            <a:off x="6096000" y="5156200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B96A00"/>
                </a:solidFill>
                <a:latin typeface="Liter"/>
                <a:ea typeface="Liter"/>
              </a:rPr>
              <a:t>Cada 5 puntos de retención ≈ +$22,076 de utilidad neta</a:t>
            </a:r>
            <a:endParaRPr lang="en-US" sz="1050" noProof="1"/>
          </a:p>
        </p:txBody>
      </p:sp>
      <p:sp>
        <p:nvSpPr>
          <p:cNvPr id="12" name="callout-card"/>
          <p:cNvSpPr/>
          <p:nvPr/>
        </p:nvSpPr>
        <p:spPr>
          <a:xfrm>
            <a:off x="762000" y="5613400"/>
            <a:ext cx="10668000" cy="609600"/>
          </a:xfrm>
          <a:prstGeom prst="rect">
            <a:avLst/>
          </a:prstGeom>
          <a:solidFill>
            <a:srgbClr val="FBF1E0"/>
          </a:solidFill>
          <a:ln>
            <a:noFill/>
          </a:ln>
        </p:spPr>
      </p:sp>
      <p:sp>
        <p:nvSpPr>
          <p:cNvPr id="13" name="callout-barra"/>
          <p:cNvSpPr/>
          <p:nvPr/>
        </p:nvSpPr>
        <p:spPr>
          <a:xfrm>
            <a:off x="762000" y="5613400"/>
            <a:ext cx="50800" cy="609600"/>
          </a:xfrm>
          <a:prstGeom prst="rect">
            <a:avLst/>
          </a:prstGeom>
          <a:solidFill>
            <a:srgbClr val="B96A00"/>
          </a:solidFill>
          <a:ln>
            <a:noFill/>
          </a:ln>
        </p:spPr>
      </p:sp>
      <p:sp>
        <p:nvSpPr>
          <p:cNvPr id="14" name="callout-texto"/>
          <p:cNvSpPr txBox="1"/>
          <p:nvPr/>
        </p:nvSpPr>
        <p:spPr>
          <a:xfrm>
            <a:off x="1016000" y="5715000"/>
            <a:ext cx="1016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3A3F47"/>
                </a:solidFill>
                <a:latin typeface="Liter"/>
                <a:ea typeface="Liter"/>
              </a:rPr>
              <a:t>La retención de posventa apunta en la dirección correcta, pero con solo 4 meses de datos no alcanza significancia estadística (p = 0.27): es una señal a monitorear, no una iniciativa nueva hoy.</a:t>
            </a:r>
            <a:endParaRPr lang="en-US" sz="1050" noProof="1"/>
          </a:p>
        </p:txBody>
      </p:sp>
      <p:sp>
        <p:nvSpPr>
          <p:cNvPr id="15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16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17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06 / 11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EVIDENCIA 3 DE 3 · EL HALLAZGO CENTRAL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66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Los mismos 6 asesores sostienen el resultado mes con mes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pic>
        <p:nvPicPr>
          <p:cNvPr id="6" name="chart-asesores"/>
          <p:cNvPicPr/>
          <p:nvPr/>
        </p:nvPicPr>
        <p:blipFill>
          <a:blip r:embed="rId3"/>
          <a:srcRect l="72" r="72"/>
          <a:stretch>
            <a:fillRect/>
          </a:stretch>
        </p:blipFill>
        <p:spPr>
          <a:xfrm>
            <a:off x="762000" y="1574800"/>
            <a:ext cx="6096000" cy="4191000"/>
          </a:xfrm>
          <a:prstGeom prst="rect">
            <a:avLst/>
          </a:prstGeom>
          <a:ln>
            <a:noFill/>
          </a:ln>
        </p:spPr>
      </p:pic>
      <p:sp>
        <p:nvSpPr>
          <p:cNvPr id="7" name="chart-caption"/>
          <p:cNvSpPr txBox="1"/>
          <p:nvPr/>
        </p:nvSpPr>
        <p:spPr>
          <a:xfrm>
            <a:off x="762000" y="5842000"/>
            <a:ext cx="609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747C"/>
                </a:solidFill>
                <a:latin typeface="Liter"/>
                <a:ea typeface="Liter"/>
              </a:rPr>
              <a:t>Ventas por asesor — meses activos vs. ventas totales (n = 51)</a:t>
            </a:r>
            <a:endParaRPr lang="en-US" sz="950" noProof="1"/>
          </a:p>
        </p:txBody>
      </p:sp>
      <p:sp>
        <p:nvSpPr>
          <p:cNvPr id="8" name="cita-card"/>
          <p:cNvSpPr/>
          <p:nvPr/>
        </p:nvSpPr>
        <p:spPr>
          <a:xfrm>
            <a:off x="7239000" y="1574800"/>
            <a:ext cx="4191000" cy="1219200"/>
          </a:xfrm>
          <a:prstGeom prst="rect">
            <a:avLst/>
          </a:prstGeom>
          <a:solidFill>
            <a:srgbClr val="FDE8EA"/>
          </a:solidFill>
          <a:ln>
            <a:noFill/>
          </a:ln>
        </p:spPr>
      </p:sp>
      <p:sp>
        <p:nvSpPr>
          <p:cNvPr id="9" name="cita-barra"/>
          <p:cNvSpPr/>
          <p:nvPr/>
        </p:nvSpPr>
        <p:spPr>
          <a:xfrm>
            <a:off x="7239000" y="1574800"/>
            <a:ext cx="50800" cy="12192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10" name="cita-texto"/>
          <p:cNvSpPr txBox="1"/>
          <p:nvPr/>
        </p:nvSpPr>
        <p:spPr>
          <a:xfrm>
            <a:off x="7467600" y="1727200"/>
            <a:ext cx="381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 i="1">
                <a:solidFill>
                  <a:srgbClr val="16181D"/>
                </a:solidFill>
                <a:latin typeface="Liter"/>
                <a:ea typeface="Liter"/>
              </a:rPr>
              <a:t>«Los 6 top vendedores (outliers del boxplot) se conservan: son el dato que interesa.»</a:t>
            </a:r>
            <a:endParaRPr lang="en-US" sz="1100" noProof="1"/>
          </a:p>
        </p:txBody>
      </p:sp>
      <p:sp>
        <p:nvSpPr>
          <p:cNvPr id="11" name="cita-attr"/>
          <p:cNvSpPr txBox="1"/>
          <p:nvPr/>
        </p:nvSpPr>
        <p:spPr>
          <a:xfrm>
            <a:off x="7467600" y="24384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900" noProof="1">
                <a:solidFill>
                  <a:srgbClr val="6E747C"/>
                </a:solidFill>
                <a:latin typeface="Liter"/>
                <a:ea typeface="Liter"/>
              </a:rPr>
              <a:t>— nota del equipo al depurar la base de ventas por asesor</a:t>
            </a:r>
            <a:endParaRPr lang="en-US" sz="900" noProof="1"/>
          </a:p>
        </p:txBody>
      </p:sp>
      <p:sp>
        <p:nvSpPr>
          <p:cNvPr id="12" name="dist-titulo"/>
          <p:cNvSpPr txBox="1"/>
          <p:nvPr/>
        </p:nvSpPr>
        <p:spPr>
          <a:xfrm>
            <a:off x="7239000" y="3048000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Distribución de desempeño actual (n = 51)</a:t>
            </a:r>
            <a:endParaRPr lang="en-US" sz="1200" noProof="1"/>
          </a:p>
        </p:txBody>
      </p:sp>
      <p:sp>
        <p:nvSpPr>
          <p:cNvPr id="13" name="dist-lbl-1"/>
          <p:cNvSpPr txBox="1"/>
          <p:nvPr/>
        </p:nvSpPr>
        <p:spPr>
          <a:xfrm>
            <a:off x="7239000" y="3429000"/>
            <a:ext cx="838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3A3F47"/>
                </a:solidFill>
                <a:latin typeface="Liter"/>
                <a:ea typeface="Liter"/>
              </a:rPr>
              <a:t>Bajo</a:t>
            </a:r>
            <a:endParaRPr lang="en-US" sz="1050" noProof="1"/>
          </a:p>
        </p:txBody>
      </p:sp>
      <p:sp>
        <p:nvSpPr>
          <p:cNvPr id="14" name="dist-bar-1"/>
          <p:cNvSpPr/>
          <p:nvPr/>
        </p:nvSpPr>
        <p:spPr>
          <a:xfrm>
            <a:off x="8204200" y="3378200"/>
            <a:ext cx="2743200" cy="304800"/>
          </a:xfrm>
          <a:prstGeom prst="roundRect">
            <a:avLst>
              <a:gd name="adj" fmla="val 14000"/>
            </a:avLst>
          </a:prstGeom>
          <a:solidFill>
            <a:srgbClr val="C7CAD1"/>
          </a:solidFill>
          <a:ln>
            <a:noFill/>
          </a:ln>
        </p:spPr>
      </p:sp>
      <p:sp>
        <p:nvSpPr>
          <p:cNvPr id="15" name="dist-val-1"/>
          <p:cNvSpPr txBox="1"/>
          <p:nvPr/>
        </p:nvSpPr>
        <p:spPr>
          <a:xfrm>
            <a:off x="11023600" y="34290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18</a:t>
            </a:r>
            <a:endParaRPr lang="en-US" sz="1200" noProof="1"/>
          </a:p>
        </p:txBody>
      </p:sp>
      <p:sp>
        <p:nvSpPr>
          <p:cNvPr id="16" name="dist-lbl-2"/>
          <p:cNvSpPr txBox="1"/>
          <p:nvPr/>
        </p:nvSpPr>
        <p:spPr>
          <a:xfrm>
            <a:off x="7239000" y="3835400"/>
            <a:ext cx="838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3A3F47"/>
                </a:solidFill>
                <a:latin typeface="Liter"/>
                <a:ea typeface="Liter"/>
              </a:rPr>
              <a:t>Medio</a:t>
            </a:r>
            <a:endParaRPr lang="en-US" sz="1050" noProof="1"/>
          </a:p>
        </p:txBody>
      </p:sp>
      <p:sp>
        <p:nvSpPr>
          <p:cNvPr id="17" name="dist-bar-2"/>
          <p:cNvSpPr/>
          <p:nvPr/>
        </p:nvSpPr>
        <p:spPr>
          <a:xfrm>
            <a:off x="8204200" y="3784600"/>
            <a:ext cx="2590800" cy="304800"/>
          </a:xfrm>
          <a:prstGeom prst="roundRect">
            <a:avLst>
              <a:gd name="adj" fmla="val 14000"/>
            </a:avLst>
          </a:prstGeom>
          <a:solidFill>
            <a:srgbClr val="6E747C"/>
          </a:solidFill>
          <a:ln>
            <a:noFill/>
          </a:ln>
        </p:spPr>
      </p:sp>
      <p:sp>
        <p:nvSpPr>
          <p:cNvPr id="18" name="dist-val-2"/>
          <p:cNvSpPr txBox="1"/>
          <p:nvPr/>
        </p:nvSpPr>
        <p:spPr>
          <a:xfrm>
            <a:off x="10871200" y="3835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17</a:t>
            </a:r>
            <a:endParaRPr lang="en-US" sz="1200" noProof="1"/>
          </a:p>
        </p:txBody>
      </p:sp>
      <p:sp>
        <p:nvSpPr>
          <p:cNvPr id="19" name="dist-lbl-3"/>
          <p:cNvSpPr txBox="1"/>
          <p:nvPr/>
        </p:nvSpPr>
        <p:spPr>
          <a:xfrm>
            <a:off x="7239000" y="4241800"/>
            <a:ext cx="838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3A3F47"/>
                </a:solidFill>
                <a:latin typeface="Liter"/>
                <a:ea typeface="Liter"/>
              </a:rPr>
              <a:t>Alto</a:t>
            </a:r>
            <a:endParaRPr lang="en-US" sz="1050" noProof="1"/>
          </a:p>
        </p:txBody>
      </p:sp>
      <p:sp>
        <p:nvSpPr>
          <p:cNvPr id="20" name="dist-bar-3"/>
          <p:cNvSpPr/>
          <p:nvPr/>
        </p:nvSpPr>
        <p:spPr>
          <a:xfrm>
            <a:off x="8204200" y="4191000"/>
            <a:ext cx="2438400" cy="304800"/>
          </a:xfrm>
          <a:prstGeom prst="roundRect">
            <a:avLst>
              <a:gd name="adj" fmla="val 14000"/>
            </a:avLst>
          </a:prstGeom>
          <a:solidFill>
            <a:srgbClr val="EB0A1E"/>
          </a:solidFill>
          <a:ln>
            <a:noFill/>
          </a:ln>
        </p:spPr>
      </p:sp>
      <p:sp>
        <p:nvSpPr>
          <p:cNvPr id="21" name="dist-val-3"/>
          <p:cNvSpPr txBox="1"/>
          <p:nvPr/>
        </p:nvSpPr>
        <p:spPr>
          <a:xfrm>
            <a:off x="10718800" y="42418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16</a:t>
            </a:r>
            <a:endParaRPr lang="en-US" sz="1200" noProof="1"/>
          </a:p>
        </p:txBody>
      </p:sp>
      <p:sp>
        <p:nvSpPr>
          <p:cNvPr id="22" name="callout-card"/>
          <p:cNvSpPr/>
          <p:nvPr/>
        </p:nvSpPr>
        <p:spPr>
          <a:xfrm>
            <a:off x="7239000" y="4800600"/>
            <a:ext cx="4191000" cy="1041400"/>
          </a:xfrm>
          <a:prstGeom prst="rect">
            <a:avLst/>
          </a:prstGeom>
          <a:solidFill>
            <a:srgbClr val="F5F6F8"/>
          </a:solidFill>
          <a:ln>
            <a:noFill/>
          </a:ln>
        </p:spPr>
      </p:sp>
      <p:sp>
        <p:nvSpPr>
          <p:cNvPr id="23" name="callout-barra"/>
          <p:cNvSpPr/>
          <p:nvPr/>
        </p:nvSpPr>
        <p:spPr>
          <a:xfrm>
            <a:off x="7239000" y="4800600"/>
            <a:ext cx="50800" cy="1041400"/>
          </a:xfrm>
          <a:prstGeom prst="rect">
            <a:avLst/>
          </a:prstGeom>
          <a:solidFill>
            <a:srgbClr val="1E7A4F"/>
          </a:solidFill>
          <a:ln>
            <a:noFill/>
          </a:ln>
        </p:spPr>
      </p:sp>
      <p:sp>
        <p:nvSpPr>
          <p:cNvPr id="24" name="callout-texto"/>
          <p:cNvSpPr txBox="1"/>
          <p:nvPr/>
        </p:nvSpPr>
        <p:spPr>
          <a:xfrm>
            <a:off x="7467600" y="4927600"/>
            <a:ext cx="3784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3A3F47"/>
                </a:solidFill>
                <a:latin typeface="Liter"/>
                <a:ea typeface="Liter"/>
              </a:rPr>
              <a:t>Si fuera azar, no se repetiría mes tras mes. → Justifica el punto 6: capacitación con IA, del Top 6 al resto del equipo.</a:t>
            </a:r>
            <a:endParaRPr lang="en-US" sz="1050" noProof="1"/>
          </a:p>
        </p:txBody>
      </p:sp>
      <p:sp>
        <p:nvSpPr>
          <p:cNvPr id="25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26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27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07 / 11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CONTEXTO · CANAL DIGITAL — AGOSTO 2026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El embudo de conversión actual, del lead a la venta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sp>
        <p:nvSpPr>
          <p:cNvPr id="6" name="lbl-1"/>
          <p:cNvSpPr txBox="1"/>
          <p:nvPr/>
        </p:nvSpPr>
        <p:spPr>
          <a:xfrm>
            <a:off x="762000" y="19304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Leads totales</a:t>
            </a:r>
            <a:endParaRPr lang="en-US" sz="1150" noProof="1"/>
          </a:p>
        </p:txBody>
      </p:sp>
      <p:sp>
        <p:nvSpPr>
          <p:cNvPr id="7" name="lbl-2"/>
          <p:cNvSpPr txBox="1"/>
          <p:nvPr/>
        </p:nvSpPr>
        <p:spPr>
          <a:xfrm>
            <a:off x="762000" y="27432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Hicieron PDM</a:t>
            </a:r>
            <a:endParaRPr lang="en-US" sz="1150" noProof="1"/>
          </a:p>
        </p:txBody>
      </p:sp>
      <p:sp>
        <p:nvSpPr>
          <p:cNvPr id="8" name="lbl-3"/>
          <p:cNvSpPr txBox="1"/>
          <p:nvPr/>
        </p:nvSpPr>
        <p:spPr>
          <a:xfrm>
            <a:off x="762000" y="35560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Solicitaron SDC</a:t>
            </a:r>
            <a:endParaRPr lang="en-US" sz="1150" noProof="1"/>
          </a:p>
        </p:txBody>
      </p:sp>
      <p:sp>
        <p:nvSpPr>
          <p:cNvPr id="9" name="lbl-4"/>
          <p:cNvSpPr txBox="1"/>
          <p:nvPr/>
        </p:nvSpPr>
        <p:spPr>
          <a:xfrm>
            <a:off x="762000" y="43688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A3F47"/>
                </a:solidFill>
                <a:latin typeface="Liter"/>
                <a:ea typeface="Liter"/>
              </a:rPr>
              <a:t>Venta concretada</a:t>
            </a:r>
            <a:endParaRPr lang="en-US" sz="1150" noProof="1"/>
          </a:p>
        </p:txBody>
      </p:sp>
      <p:sp>
        <p:nvSpPr>
          <p:cNvPr id="10" name="bar-1"/>
          <p:cNvSpPr/>
          <p:nvPr/>
        </p:nvSpPr>
        <p:spPr>
          <a:xfrm>
            <a:off x="2667000" y="1854200"/>
            <a:ext cx="4318000" cy="406400"/>
          </a:xfrm>
          <a:prstGeom prst="roundRect">
            <a:avLst>
              <a:gd name="adj" fmla="val 18000"/>
            </a:avLst>
          </a:prstGeom>
          <a:solidFill>
            <a:srgbClr val="EB0A1E"/>
          </a:solidFill>
          <a:ln>
            <a:noFill/>
          </a:ln>
        </p:spPr>
      </p:sp>
      <p:sp>
        <p:nvSpPr>
          <p:cNvPr id="11" name="bar-2"/>
          <p:cNvSpPr/>
          <p:nvPr/>
        </p:nvSpPr>
        <p:spPr>
          <a:xfrm>
            <a:off x="2667000" y="2667000"/>
            <a:ext cx="2197100" cy="406400"/>
          </a:xfrm>
          <a:prstGeom prst="roundRect">
            <a:avLst>
              <a:gd name="adj" fmla="val 18000"/>
            </a:avLst>
          </a:prstGeom>
          <a:solidFill>
            <a:srgbClr val="B30818"/>
          </a:solidFill>
          <a:ln>
            <a:noFill/>
          </a:ln>
        </p:spPr>
      </p:sp>
      <p:sp>
        <p:nvSpPr>
          <p:cNvPr id="12" name="bar-3"/>
          <p:cNvSpPr/>
          <p:nvPr/>
        </p:nvSpPr>
        <p:spPr>
          <a:xfrm>
            <a:off x="2667000" y="3479800"/>
            <a:ext cx="1778000" cy="406400"/>
          </a:xfrm>
          <a:prstGeom prst="roundRect">
            <a:avLst>
              <a:gd name="adj" fmla="val 18000"/>
            </a:avLst>
          </a:prstGeom>
          <a:solidFill>
            <a:srgbClr val="8F0714"/>
          </a:solidFill>
          <a:ln>
            <a:noFill/>
          </a:ln>
        </p:spPr>
      </p:sp>
      <p:sp>
        <p:nvSpPr>
          <p:cNvPr id="13" name="bar-4"/>
          <p:cNvSpPr/>
          <p:nvPr/>
        </p:nvSpPr>
        <p:spPr>
          <a:xfrm>
            <a:off x="2667000" y="4292600"/>
            <a:ext cx="381000" cy="406400"/>
          </a:xfrm>
          <a:prstGeom prst="roundRect">
            <a:avLst>
              <a:gd name="adj" fmla="val 18000"/>
            </a:avLst>
          </a:prstGeom>
          <a:solidFill>
            <a:srgbClr val="16181D"/>
          </a:solidFill>
          <a:ln>
            <a:noFill/>
          </a:ln>
        </p:spPr>
      </p:sp>
      <p:sp>
        <p:nvSpPr>
          <p:cNvPr id="14" name="val-1"/>
          <p:cNvSpPr txBox="1"/>
          <p:nvPr/>
        </p:nvSpPr>
        <p:spPr>
          <a:xfrm>
            <a:off x="7086600" y="19304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668 (100.0%)</a:t>
            </a:r>
            <a:endParaRPr lang="en-US" sz="1200" noProof="1"/>
          </a:p>
        </p:txBody>
      </p:sp>
      <p:sp>
        <p:nvSpPr>
          <p:cNvPr id="15" name="val-2"/>
          <p:cNvSpPr txBox="1"/>
          <p:nvPr/>
        </p:nvSpPr>
        <p:spPr>
          <a:xfrm>
            <a:off x="4965700" y="27432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339 (50.7%)</a:t>
            </a:r>
            <a:endParaRPr lang="en-US" sz="1200" noProof="1"/>
          </a:p>
        </p:txBody>
      </p:sp>
      <p:sp>
        <p:nvSpPr>
          <p:cNvPr id="16" name="val-3"/>
          <p:cNvSpPr txBox="1"/>
          <p:nvPr/>
        </p:nvSpPr>
        <p:spPr>
          <a:xfrm>
            <a:off x="4546600" y="35560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275 (41.2%)</a:t>
            </a:r>
            <a:endParaRPr lang="en-US" sz="1200" noProof="1"/>
          </a:p>
        </p:txBody>
      </p:sp>
      <p:sp>
        <p:nvSpPr>
          <p:cNvPr id="17" name="val-4"/>
          <p:cNvSpPr txBox="1"/>
          <p:nvPr/>
        </p:nvSpPr>
        <p:spPr>
          <a:xfrm>
            <a:off x="3149600" y="43688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6181D"/>
                </a:solidFill>
                <a:latin typeface="Liter"/>
                <a:ea typeface="Liter"/>
              </a:rPr>
              <a:t>58 (8.7%)</a:t>
            </a:r>
            <a:endParaRPr lang="en-US" sz="1200" noProof="1"/>
          </a:p>
        </p:txBody>
      </p:sp>
      <p:sp>
        <p:nvSpPr>
          <p:cNvPr id="18" name="drop-1"/>
          <p:cNvSpPr txBox="1"/>
          <p:nvPr/>
        </p:nvSpPr>
        <p:spPr>
          <a:xfrm>
            <a:off x="2667000" y="2336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EB0A1E"/>
                </a:solidFill>
                <a:latin typeface="Liter"/>
                <a:ea typeface="Liter"/>
              </a:rPr>
              <a:t>−49.3% no llega a la prueba de manejo</a:t>
            </a:r>
            <a:endParaRPr lang="en-US" sz="950" noProof="1"/>
          </a:p>
        </p:txBody>
      </p:sp>
      <p:sp>
        <p:nvSpPr>
          <p:cNvPr id="19" name="drop-2"/>
          <p:cNvSpPr txBox="1"/>
          <p:nvPr/>
        </p:nvSpPr>
        <p:spPr>
          <a:xfrm>
            <a:off x="2667000" y="3149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EB0A1E"/>
                </a:solidFill>
                <a:latin typeface="Liter"/>
                <a:ea typeface="Liter"/>
              </a:rPr>
              <a:t>−18.9% no solicita crédito</a:t>
            </a:r>
            <a:endParaRPr lang="en-US" sz="950" noProof="1"/>
          </a:p>
        </p:txBody>
      </p:sp>
      <p:sp>
        <p:nvSpPr>
          <p:cNvPr id="20" name="drop-3"/>
          <p:cNvSpPr txBox="1"/>
          <p:nvPr/>
        </p:nvSpPr>
        <p:spPr>
          <a:xfrm>
            <a:off x="2667000" y="396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 b="1">
                <a:solidFill>
                  <a:srgbClr val="EB0A1E"/>
                </a:solidFill>
                <a:latin typeface="Liter"/>
                <a:ea typeface="Liter"/>
              </a:rPr>
              <a:t>−78.9% se cae después del crédito</a:t>
            </a:r>
            <a:endParaRPr lang="en-US" sz="950" noProof="1"/>
          </a:p>
        </p:txBody>
      </p:sp>
      <p:sp>
        <p:nvSpPr>
          <p:cNvPr id="21" name="nota-corte"/>
          <p:cNvSpPr txBox="1"/>
          <p:nvPr/>
        </p:nvSpPr>
        <p:spPr>
          <a:xfrm>
            <a:off x="762000" y="50292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E747C"/>
                </a:solidFill>
                <a:latin typeface="Liter"/>
                <a:ea typeface="Liter"/>
              </a:rPr>
              <a:t>Corte al 7 de agosto de 2026. El embudo corresponde al canal digital de la agencia, no a su operación total.</a:t>
            </a:r>
            <a:endParaRPr lang="en-US" sz="1000" noProof="1"/>
          </a:p>
        </p:txBody>
      </p:sp>
      <p:sp>
        <p:nvSpPr>
          <p:cNvPr id="22" name="panel-hallazgo"/>
          <p:cNvSpPr/>
          <p:nvPr/>
        </p:nvSpPr>
        <p:spPr>
          <a:xfrm>
            <a:off x="8382000" y="1854200"/>
            <a:ext cx="3048000" cy="2844800"/>
          </a:xfrm>
          <a:prstGeom prst="rect">
            <a:avLst/>
          </a:prstGeom>
          <a:solidFill>
            <a:srgbClr val="F5F6F8"/>
          </a:solidFill>
          <a:ln>
            <a:noFill/>
          </a:ln>
        </p:spPr>
      </p:sp>
      <p:sp>
        <p:nvSpPr>
          <p:cNvPr id="23" name="panel-acento"/>
          <p:cNvSpPr/>
          <p:nvPr/>
        </p:nvSpPr>
        <p:spPr>
          <a:xfrm>
            <a:off x="8382000" y="1854200"/>
            <a:ext cx="50800" cy="2844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24" name="hallazgo-label"/>
          <p:cNvSpPr txBox="1"/>
          <p:nvPr/>
        </p:nvSpPr>
        <p:spPr>
          <a:xfrm>
            <a:off x="8636000" y="2032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50" kern="0">
                <a:solidFill>
                  <a:srgbClr val="EB0A1E"/>
                </a:solidFill>
                <a:latin typeface="Liter"/>
                <a:ea typeface="Liter"/>
              </a:rPr>
              <a:t>HALLAZGO CRÍTICO</a:t>
            </a:r>
            <a:endParaRPr lang="en-US" sz="1000" noProof="1"/>
          </a:p>
        </p:txBody>
      </p:sp>
      <p:sp>
        <p:nvSpPr>
          <p:cNvPr id="25" name="hallazgo-num1"/>
          <p:cNvSpPr txBox="1"/>
          <p:nvPr/>
        </p:nvSpPr>
        <p:spPr>
          <a:xfrm>
            <a:off x="8636000" y="2286000"/>
            <a:ext cx="254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16181D"/>
                </a:solidFill>
                <a:latin typeface="Liter"/>
                <a:ea typeface="Liter"/>
              </a:rPr>
              <a:t>8.7%</a:t>
            </a:r>
            <a:endParaRPr lang="en-US" sz="3200" noProof="1"/>
          </a:p>
        </p:txBody>
      </p:sp>
      <p:sp>
        <p:nvSpPr>
          <p:cNvPr id="26" name="hallazgo-desc1"/>
          <p:cNvSpPr txBox="1"/>
          <p:nvPr/>
        </p:nvSpPr>
        <p:spPr>
          <a:xfrm>
            <a:off x="8636000" y="2794000"/>
            <a:ext cx="2565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3A3F47"/>
                </a:solidFill>
                <a:latin typeface="Liter"/>
                <a:ea typeface="Liter"/>
              </a:rPr>
              <a:t>de conversión global, por debajo del benchmark del sector automotriz (12–15%).</a:t>
            </a:r>
            <a:endParaRPr lang="en-US" sz="1050" noProof="1"/>
          </a:p>
        </p:txBody>
      </p:sp>
      <p:sp>
        <p:nvSpPr>
          <p:cNvPr id="27" name="hallazgo-div"/>
          <p:cNvSpPr/>
          <p:nvPr/>
        </p:nvSpPr>
        <p:spPr>
          <a:xfrm>
            <a:off x="8636000" y="3556000"/>
            <a:ext cx="2540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28" name="hallazgo-num2"/>
          <p:cNvSpPr txBox="1"/>
          <p:nvPr/>
        </p:nvSpPr>
        <p:spPr>
          <a:xfrm>
            <a:off x="8636000" y="3708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EB0A1E"/>
                </a:solidFill>
                <a:latin typeface="Liter"/>
                <a:ea typeface="Liter"/>
              </a:rPr>
              <a:t>4.1×</a:t>
            </a:r>
            <a:endParaRPr lang="en-US" sz="2800" noProof="1"/>
          </a:p>
        </p:txBody>
      </p:sp>
      <p:sp>
        <p:nvSpPr>
          <p:cNvPr id="29" name="hallazgo-desc2"/>
          <p:cNvSpPr txBox="1"/>
          <p:nvPr/>
        </p:nvSpPr>
        <p:spPr>
          <a:xfrm>
            <a:off x="8636000" y="4165600"/>
            <a:ext cx="2565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3A3F47"/>
                </a:solidFill>
                <a:latin typeface="Liter"/>
                <a:ea typeface="Liter"/>
              </a:rPr>
              <a:t>más probabilidad de compra cuando el lead solicita crédito (SDC).</a:t>
            </a:r>
            <a:endParaRPr lang="en-US" sz="1050" noProof="1"/>
          </a:p>
        </p:txBody>
      </p:sp>
      <p:sp>
        <p:nvSpPr>
          <p:cNvPr id="30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31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32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08 / 11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EVIDENCIA · REGRESIÓN LINEAL MÚLTIPLE — VENTAS POR ASESOR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Ventas por asesor: el desempeño no es aleatorio (R</a:t>
            </a:r>
            <a:r>
              <a:rPr lang="en-US" sz="2800" noProof="1" b="1" baseline="30000">
                <a:solidFill>
                  <a:srgbClr val="16181D"/>
                </a:solidFill>
                <a:latin typeface="Liter"/>
                <a:ea typeface="Liter"/>
              </a:rPr>
              <a:t>2</a:t>
            </a: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 = 0.862)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sp>
        <p:nvSpPr>
          <p:cNvPr id="6" name="intro"/>
          <p:cNvSpPr txBox="1"/>
          <p:nvPr/>
        </p:nvSpPr>
        <p:spPr>
          <a:xfrm>
            <a:off x="762000" y="13970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3A3F47"/>
                </a:solidFill>
                <a:latin typeface="Liter"/>
                <a:ea typeface="Liter"/>
              </a:rPr>
              <a:t>El modelo explica el 86.2% de la variabilidad en ventas por asesor: las diferencias de desempeño sí tienen causa medible.</a:t>
            </a:r>
            <a:endParaRPr lang="en-US" sz="1250" noProof="1"/>
          </a:p>
        </p:txBody>
      </p:sp>
      <p:sp>
        <p:nvSpPr>
          <p:cNvPr id="7" name="eq-panel"/>
          <p:cNvSpPr/>
          <p:nvPr/>
        </p:nvSpPr>
        <p:spPr>
          <a:xfrm>
            <a:off x="762000" y="1803400"/>
            <a:ext cx="10668000" cy="482600"/>
          </a:xfrm>
          <a:prstGeom prst="rect">
            <a:avLst/>
          </a:prstGeom>
          <a:solidFill>
            <a:srgbClr val="F5F6F8"/>
          </a:solidFill>
          <a:ln>
            <a:noFill/>
          </a:ln>
        </p:spPr>
      </p:sp>
      <p:sp>
        <p:nvSpPr>
          <p:cNvPr id="8" name="eq-barra"/>
          <p:cNvSpPr/>
          <p:nvPr/>
        </p:nvSpPr>
        <p:spPr>
          <a:xfrm>
            <a:off x="762000" y="1803400"/>
            <a:ext cx="50800" cy="4826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9" name="eq-texto"/>
          <p:cNvSpPr txBox="1"/>
          <p:nvPr/>
        </p:nvSpPr>
        <p:spPr>
          <a:xfrm>
            <a:off x="990600" y="1930400"/>
            <a:ext cx="10236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6181D"/>
                </a:solidFill>
                <a:latin typeface="Liter"/>
                <a:ea typeface="Liter"/>
              </a:rPr>
              <a:t>Ventas = 2.73 + 0.279·(Total_PDM) + 0.140·(Total_SDC) − 0.101·(Total_Leads) − 0.041·(Potencial_Prom)</a:t>
            </a:r>
            <a:endParaRPr lang="en-US" sz="1250" noProof="1"/>
          </a:p>
        </p:txBody>
      </p:sp>
      <p:graphicFrame>
        <p:nvGraphicFramePr>
          <p:cNvPr id="10" name="tabla-modelo"/>
          <p:cNvGraphicFramePr>
            <a:graphicFrameLocks noGrp="1"/>
          </p:cNvGraphicFramePr>
          <p:nvPr/>
        </p:nvGraphicFramePr>
        <p:xfrm>
          <a:off x="762000" y="2514600"/>
          <a:ext cx="10668000" cy="1930400"/>
        </p:xfrm>
        <a:graphic>
          <a:graphicData uri="http://schemas.openxmlformats.org/drawingml/2006/table">
            <a:tbl>
              <a:tblPr/>
              <a:tblGrid>
                <a:gridCol w="2133600"/>
                <a:gridCol w="1280160"/>
                <a:gridCol w="4480560"/>
                <a:gridCol w="2773680"/>
              </a:tblGrid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VARIABLE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 b="1" spc="10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COEF.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IMPACTO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 b="1" spc="10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SIGNIFICANCIA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Total_PDM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 b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+0.279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Cada prueba de manejo = +0.28 ventas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 b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Sí — p = 0.010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Total_SDC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+0.140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Cada solicitud de crédito = +0.14 ventas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6E747C"/>
                          </a:solidFill>
                          <a:latin typeface="Liter"/>
                          <a:ea typeface="Liter"/>
                        </a:rPr>
                        <a:t>No — p = 0.110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Total_Leads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−0.101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Más leads no significa más ventas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6E747C"/>
                          </a:solidFill>
                          <a:latin typeface="Liter"/>
                          <a:ea typeface="Liter"/>
                        </a:rPr>
                        <a:t>No — p = 0.138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insight-panel"/>
          <p:cNvSpPr/>
          <p:nvPr/>
        </p:nvSpPr>
        <p:spPr>
          <a:xfrm>
            <a:off x="762000" y="4800600"/>
            <a:ext cx="10668000" cy="1041400"/>
          </a:xfrm>
          <a:prstGeom prst="rect">
            <a:avLst/>
          </a:prstGeom>
          <a:solidFill>
            <a:srgbClr val="FDE8EA"/>
          </a:solidFill>
          <a:ln>
            <a:noFill/>
          </a:ln>
        </p:spPr>
      </p:sp>
      <p:sp>
        <p:nvSpPr>
          <p:cNvPr id="12" name="insight-acento"/>
          <p:cNvSpPr/>
          <p:nvPr/>
        </p:nvSpPr>
        <p:spPr>
          <a:xfrm>
            <a:off x="762000" y="4800600"/>
            <a:ext cx="50800" cy="10414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13" name="insight-label"/>
          <p:cNvSpPr txBox="1"/>
          <p:nvPr/>
        </p:nvSpPr>
        <p:spPr>
          <a:xfrm>
            <a:off x="1016000" y="4953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50" kern="0">
                <a:solidFill>
                  <a:srgbClr val="EB0A1E"/>
                </a:solidFill>
                <a:latin typeface="Liter"/>
                <a:ea typeface="Liter"/>
              </a:rPr>
              <a:t>INSIGHT CLAVE</a:t>
            </a:r>
            <a:endParaRPr lang="en-US" sz="1000" noProof="1"/>
          </a:p>
        </p:txBody>
      </p:sp>
      <p:sp>
        <p:nvSpPr>
          <p:cNvPr id="14" name="insight-texto"/>
          <p:cNvSpPr txBox="1"/>
          <p:nvPr/>
        </p:nvSpPr>
        <p:spPr>
          <a:xfrm>
            <a:off x="1016000" y="51816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A3F47"/>
                </a:solidFill>
                <a:latin typeface="Liter"/>
                <a:ea typeface="Liter"/>
              </a:rPr>
              <a:t>La cantidad de leads asignados no predice las ventas (p = 0.138). Lo que sí predice es la cantidad de pruebas de manejo realizadas (p = 0.010): la calidad del proceso supera a la cantidad de oportunidades.</a:t>
            </a:r>
            <a:endParaRPr lang="en-US" sz="1200" noProof="1"/>
          </a:p>
        </p:txBody>
      </p:sp>
      <p:sp>
        <p:nvSpPr>
          <p:cNvPr id="15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16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17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09 / 11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PROPUESTA FINAL · GESTIÓN Y MÉTRICAS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6181D"/>
                </a:solidFill>
                <a:latin typeface="Liter"/>
                <a:ea typeface="Liter"/>
              </a:rPr>
              <a:t>Gestión y métricas: de bonificar leads a bonificar cierres</a:t>
            </a:r>
            <a:endParaRPr lang="en-US" sz="2800" noProof="1"/>
          </a:p>
        </p:txBody>
      </p:sp>
      <p:sp>
        <p:nvSpPr>
          <p:cNvPr id="4" name="regla-roja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pic>
        <p:nvPicPr>
          <p:cNvPr id="5" name="logo"/>
          <p:cNvPicPr/>
          <p:nvPr/>
        </p:nvPicPr>
        <p:blipFill>
          <a:blip r:embed="rId2"/>
          <a:srcRect t="434" b="434"/>
          <a:stretch>
            <a:fillRect/>
          </a:stretch>
        </p:blipFill>
        <p:spPr>
          <a:xfrm>
            <a:off x="10388600" y="177800"/>
            <a:ext cx="1041400" cy="635000"/>
          </a:xfrm>
          <a:prstGeom prst="rect">
            <a:avLst/>
          </a:prstGeom>
          <a:ln>
            <a:noFill/>
          </a:ln>
        </p:spPr>
      </p:pic>
      <p:sp>
        <p:nvSpPr>
          <p:cNvPr id="6" name="h3"/>
          <p:cNvSpPr txBox="1"/>
          <p:nvPr/>
        </p:nvSpPr>
        <p:spPr>
          <a:xfrm>
            <a:off x="762000" y="14478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EB0A1E"/>
                </a:solidFill>
                <a:latin typeface="Liter"/>
                <a:ea typeface="Liter"/>
              </a:rPr>
              <a:t>3.</a:t>
            </a:r>
            <a:r>
              <a:rPr lang="en-US" sz="1300" noProof="1" b="1">
                <a:solidFill>
                  <a:srgbClr val="16181D"/>
                </a:solidFill>
                <a:latin typeface="Liter"/>
                <a:ea typeface="Liter"/>
              </a:rPr>
              <a:t> Rediseñar KPIs: de «leads» a «PDM efectivos»</a:t>
            </a:r>
            <a:endParaRPr lang="en-US" sz="1300" noProof="1"/>
          </a:p>
        </p:txBody>
      </p:sp>
      <p:sp>
        <p:nvSpPr>
          <p:cNvPr id="7" name="j3"/>
          <p:cNvSpPr txBox="1"/>
          <p:nvPr/>
        </p:nvSpPr>
        <p:spPr>
          <a:xfrm>
            <a:off x="762000" y="17272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i="1">
                <a:solidFill>
                  <a:srgbClr val="6E747C"/>
                </a:solidFill>
                <a:latin typeface="Liter"/>
                <a:ea typeface="Liter"/>
              </a:rPr>
              <a:t>Justificación: Total_Leads no predice ventas (p = 0.138); Total_PDM sí (p = 0.010).</a:t>
            </a:r>
            <a:endParaRPr lang="en-US" sz="1050" noProof="1"/>
          </a:p>
        </p:txBody>
      </p:sp>
      <p:sp>
        <p:nvSpPr>
          <p:cNvPr id="8" name="b3"/>
          <p:cNvSpPr txBox="1"/>
          <p:nvPr/>
        </p:nvSpPr>
        <p:spPr>
          <a:xfrm>
            <a:off x="939800" y="2133600"/>
            <a:ext cx="541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Eliminar la bonificación por volumen de leads atendidos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Scorecard del asesor: 40% PDM, 30% SDC, 30% ventas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Revisión semanal del ratio PDM/Leads por asesor</a:t>
            </a:r>
            <a:endParaRPr lang="en-US" sz="1100" noProof="1"/>
          </a:p>
        </p:txBody>
      </p:sp>
      <p:sp>
        <p:nvSpPr>
          <p:cNvPr id="9" name="h4"/>
          <p:cNvSpPr txBox="1"/>
          <p:nvPr/>
        </p:nvSpPr>
        <p:spPr>
          <a:xfrm>
            <a:off x="762000" y="31242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EB0A1E"/>
                </a:solidFill>
                <a:latin typeface="Liter"/>
                <a:ea typeface="Liter"/>
              </a:rPr>
              <a:t>4.</a:t>
            </a:r>
            <a:r>
              <a:rPr lang="en-US" sz="1300" noProof="1" b="1">
                <a:solidFill>
                  <a:srgbClr val="16181D"/>
                </a:solidFill>
                <a:latin typeface="Liter"/>
                <a:ea typeface="Liter"/>
              </a:rPr>
              <a:t> Alertas tempranas con el modelo predictivo</a:t>
            </a:r>
            <a:endParaRPr lang="en-US" sz="1300" noProof="1"/>
          </a:p>
        </p:txBody>
      </p:sp>
      <p:sp>
        <p:nvSpPr>
          <p:cNvPr id="10" name="j4"/>
          <p:cNvSpPr txBox="1"/>
          <p:nvPr/>
        </p:nvSpPr>
        <p:spPr>
          <a:xfrm>
            <a:off x="762000" y="34036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i="1">
                <a:solidFill>
                  <a:srgbClr val="6E747C"/>
                </a:solidFill>
                <a:latin typeface="Liter"/>
                <a:ea typeface="Liter"/>
              </a:rPr>
              <a:t>Justificación: con AUC = 0.815 la clasificación de leads es confiable.</a:t>
            </a:r>
            <a:endParaRPr lang="en-US" sz="1050" noProof="1"/>
          </a:p>
        </p:txBody>
      </p:sp>
      <p:sp>
        <p:nvSpPr>
          <p:cNvPr id="11" name="b4"/>
          <p:cNvSpPr txBox="1"/>
          <p:nvPr/>
        </p:nvSpPr>
        <p:spPr>
          <a:xfrm>
            <a:off x="939800" y="3810000"/>
            <a:ext cx="541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Score de probabilidad de compra automático por lead nuevo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Score &lt; 30%: ruta de nutrición automatizada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Score &gt; 70%: intervención del gerente + prioridad de PDM</a:t>
            </a:r>
            <a:endParaRPr lang="en-US" sz="1100" noProof="1"/>
          </a:p>
        </p:txBody>
      </p:sp>
      <p:sp>
        <p:nvSpPr>
          <p:cNvPr id="12" name="h5"/>
          <p:cNvSpPr txBox="1"/>
          <p:nvPr/>
        </p:nvSpPr>
        <p:spPr>
          <a:xfrm>
            <a:off x="762000" y="48006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EB0A1E"/>
                </a:solidFill>
                <a:latin typeface="Liter"/>
                <a:ea typeface="Liter"/>
              </a:rPr>
              <a:t>5.</a:t>
            </a:r>
            <a:r>
              <a:rPr lang="en-US" sz="1300" noProof="1" b="1">
                <a:solidFill>
                  <a:srgbClr val="16181D"/>
                </a:solidFill>
                <a:latin typeface="Liter"/>
                <a:ea typeface="Liter"/>
              </a:rPr>
              <a:t> Intervención del gerente en leads «calientes»</a:t>
            </a:r>
            <a:endParaRPr lang="en-US" sz="1300" noProof="1"/>
          </a:p>
        </p:txBody>
      </p:sp>
      <p:sp>
        <p:nvSpPr>
          <p:cNvPr id="13" name="b5"/>
          <p:cNvSpPr txBox="1"/>
          <p:nvPr/>
        </p:nvSpPr>
        <p:spPr>
          <a:xfrm>
            <a:off x="939800" y="5080000"/>
            <a:ext cx="5410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Todo lead con PDM + SDC cierra acompañado por el gerente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3F47"/>
                </a:solidFill>
                <a:latin typeface="Liter"/>
                <a:ea typeface="Liter"/>
              </a:rPr>
              <a:t>Reduce el abandono en la etapa final del embudo</a:t>
            </a:r>
            <a:endParaRPr lang="en-US" sz="1100" noProof="1"/>
          </a:p>
        </p:txBody>
      </p:sp>
      <p:sp>
        <p:nvSpPr>
          <p:cNvPr id="14" name="divisor"/>
          <p:cNvSpPr/>
          <p:nvPr/>
        </p:nvSpPr>
        <p:spPr>
          <a:xfrm>
            <a:off x="6451600" y="1447800"/>
            <a:ext cx="12700" cy="43180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15" name="proy-titulo"/>
          <p:cNvSpPr txBox="1"/>
          <p:nvPr/>
        </p:nvSpPr>
        <p:spPr>
          <a:xfrm>
            <a:off x="6756400" y="14478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6181D"/>
                </a:solidFill>
                <a:latin typeface="Liter"/>
                <a:ea typeface="Liter"/>
              </a:rPr>
              <a:t>Proyección de impacto</a:t>
            </a:r>
            <a:endParaRPr lang="en-US" sz="1300" noProof="1"/>
          </a:p>
        </p:txBody>
      </p:sp>
      <p:graphicFrame>
        <p:nvGraphicFramePr>
          <p:cNvPr id="16" name="proy-tabla"/>
          <p:cNvGraphicFramePr>
            <a:graphicFrameLocks noGrp="1"/>
          </p:cNvGraphicFramePr>
          <p:nvPr/>
        </p:nvGraphicFramePr>
        <p:xfrm>
          <a:off x="6756400" y="1778000"/>
          <a:ext cx="4673600" cy="1473200"/>
        </p:xfrm>
        <a:graphic>
          <a:graphicData uri="http://schemas.openxmlformats.org/drawingml/2006/table">
            <a:tbl>
              <a:tblPr/>
              <a:tblGrid>
                <a:gridCol w="1682496"/>
                <a:gridCol w="701040"/>
                <a:gridCol w="701040"/>
                <a:gridCol w="841248"/>
                <a:gridCol w="747776"/>
              </a:tblGrid>
              <a:tr h="368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50" noProof="1" b="1" spc="5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ESCENARIO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950" noProof="1" b="1" spc="5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PDM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950" noProof="1" b="1" spc="5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SDC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950" noProof="1" b="1" spc="5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VENTAS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950" noProof="1" b="1" spc="50" kern="0">
                          <a:solidFill>
                            <a:srgbClr val="16181D"/>
                          </a:solidFill>
                          <a:latin typeface="Liter"/>
                          <a:ea typeface="Liter"/>
                        </a:rPr>
                        <a:t>INCR.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EB0A1E"/>
                      </a:solidFill>
                    </a:lnB>
                    <a:noFill/>
                  </a:tcPr>
                </a:tc>
              </a:tr>
              <a:tr h="368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Actual (agosto)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50.7%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41.2%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58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</a:tr>
              <a:tr h="368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Conservador (+10%)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60%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50%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~72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A3F47"/>
                          </a:solidFill>
                          <a:latin typeface="Liter"/>
                          <a:ea typeface="Liter"/>
                        </a:rPr>
                        <a:t>+24%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noFill/>
                  </a:tcPr>
                </a:tc>
              </a:tr>
              <a:tr h="368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Óptimo (meta)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 b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70%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 b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60%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 b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~90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solidFill>
                      <a:srgbClr val="FDE8E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 b="1">
                          <a:solidFill>
                            <a:srgbClr val="EB0A1E"/>
                          </a:solidFill>
                          <a:latin typeface="Liter"/>
                          <a:ea typeface="Liter"/>
                        </a:rPr>
                        <a:t>+55%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2E4E8"/>
                      </a:solidFill>
                    </a:lnB>
                    <a:solidFill>
                      <a:srgbClr val="FDE8EA"/>
                    </a:solidFill>
                  </a:tcPr>
                </a:tc>
              </a:tr>
            </a:tbl>
          </a:graphicData>
        </a:graphic>
      </p:graphicFrame>
      <p:sp>
        <p:nvSpPr>
          <p:cNvPr id="17" name="proy-nota"/>
          <p:cNvSpPr txBox="1"/>
          <p:nvPr/>
        </p:nvSpPr>
        <p:spPr>
          <a:xfrm>
            <a:off x="6756400" y="3352800"/>
            <a:ext cx="4673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9AA0A8"/>
                </a:solidFill>
                <a:latin typeface="Liter"/>
                <a:ea typeface="Liter"/>
              </a:rPr>
              <a:t>*Proyección con los coeficientes del modelo: cada PDM adicional ≈ +0.28 ventas; cada SDC adicional ≈ +0.14 ventas.</a:t>
            </a:r>
            <a:endParaRPr lang="en-US" sz="850" noProof="1"/>
          </a:p>
        </p:txBody>
      </p:sp>
      <p:sp>
        <p:nvSpPr>
          <p:cNvPr id="18" name="stat1-label"/>
          <p:cNvSpPr txBox="1"/>
          <p:nvPr/>
        </p:nvSpPr>
        <p:spPr>
          <a:xfrm>
            <a:off x="6756400" y="3962400"/>
            <a:ext cx="1498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b="1" spc="100" kern="0">
                <a:solidFill>
                  <a:srgbClr val="6E747C"/>
                </a:solidFill>
                <a:latin typeface="Liter"/>
                <a:ea typeface="Liter"/>
              </a:rPr>
              <a:t>INVERSIÓN</a:t>
            </a:r>
            <a:endParaRPr lang="en-US" sz="850" noProof="1"/>
          </a:p>
        </p:txBody>
      </p:sp>
      <p:sp>
        <p:nvSpPr>
          <p:cNvPr id="19" name="stat1-valor"/>
          <p:cNvSpPr txBox="1"/>
          <p:nvPr/>
        </p:nvSpPr>
        <p:spPr>
          <a:xfrm>
            <a:off x="6756400" y="4165600"/>
            <a:ext cx="1498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16181D"/>
                </a:solidFill>
                <a:latin typeface="Liter"/>
                <a:ea typeface="Liter"/>
              </a:rPr>
              <a:t>Baja</a:t>
            </a:r>
            <a:endParaRPr lang="en-US" sz="2000" noProof="1"/>
          </a:p>
        </p:txBody>
      </p:sp>
      <p:sp>
        <p:nvSpPr>
          <p:cNvPr id="20" name="stat1-cap"/>
          <p:cNvSpPr txBox="1"/>
          <p:nvPr/>
        </p:nvSpPr>
        <p:spPr>
          <a:xfrm>
            <a:off x="6756400" y="4546600"/>
            <a:ext cx="1498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E747C"/>
                </a:solidFill>
                <a:latin typeface="Liter"/>
                <a:ea typeface="Liter"/>
              </a:rPr>
              <a:t>Capacitación y ajuste de incentivos; sin inversión en infraestructura.</a:t>
            </a:r>
            <a:endParaRPr lang="en-US" sz="900" noProof="1"/>
          </a:p>
        </p:txBody>
      </p:sp>
      <p:sp>
        <p:nvSpPr>
          <p:cNvPr id="21" name="stat2-label"/>
          <p:cNvSpPr txBox="1"/>
          <p:nvPr/>
        </p:nvSpPr>
        <p:spPr>
          <a:xfrm>
            <a:off x="8356600" y="3962400"/>
            <a:ext cx="1498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b="1" spc="100" kern="0">
                <a:solidFill>
                  <a:srgbClr val="6E747C"/>
                </a:solidFill>
                <a:latin typeface="Liter"/>
                <a:ea typeface="Liter"/>
              </a:rPr>
              <a:t>TIEMPO</a:t>
            </a:r>
            <a:endParaRPr lang="en-US" sz="850" noProof="1"/>
          </a:p>
        </p:txBody>
      </p:sp>
      <p:sp>
        <p:nvSpPr>
          <p:cNvPr id="22" name="stat2-valor"/>
          <p:cNvSpPr txBox="1"/>
          <p:nvPr/>
        </p:nvSpPr>
        <p:spPr>
          <a:xfrm>
            <a:off x="8356600" y="4165600"/>
            <a:ext cx="1498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16181D"/>
                </a:solidFill>
                <a:latin typeface="Liter"/>
                <a:ea typeface="Liter"/>
              </a:rPr>
              <a:t>30–60 días</a:t>
            </a:r>
            <a:endParaRPr lang="en-US" sz="2000" noProof="1"/>
          </a:p>
        </p:txBody>
      </p:sp>
      <p:sp>
        <p:nvSpPr>
          <p:cNvPr id="23" name="stat2-cap"/>
          <p:cNvSpPr txBox="1"/>
          <p:nvPr/>
        </p:nvSpPr>
        <p:spPr>
          <a:xfrm>
            <a:off x="8356600" y="4546600"/>
            <a:ext cx="1498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E747C"/>
                </a:solidFill>
                <a:latin typeface="Liter"/>
                <a:ea typeface="Liter"/>
              </a:rPr>
              <a:t>Cambios en procesos y capacitación de asesores.</a:t>
            </a:r>
            <a:endParaRPr lang="en-US" sz="900" noProof="1"/>
          </a:p>
        </p:txBody>
      </p:sp>
      <p:sp>
        <p:nvSpPr>
          <p:cNvPr id="24" name="stat3-label"/>
          <p:cNvSpPr txBox="1"/>
          <p:nvPr/>
        </p:nvSpPr>
        <p:spPr>
          <a:xfrm>
            <a:off x="9956800" y="3962400"/>
            <a:ext cx="1473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b="1" spc="100" kern="0">
                <a:solidFill>
                  <a:srgbClr val="6E747C"/>
                </a:solidFill>
                <a:latin typeface="Liter"/>
                <a:ea typeface="Liter"/>
              </a:rPr>
              <a:t>ROI ESPERADO</a:t>
            </a:r>
            <a:endParaRPr lang="en-US" sz="850" noProof="1"/>
          </a:p>
        </p:txBody>
      </p:sp>
      <p:sp>
        <p:nvSpPr>
          <p:cNvPr id="25" name="stat3-valor"/>
          <p:cNvSpPr txBox="1"/>
          <p:nvPr/>
        </p:nvSpPr>
        <p:spPr>
          <a:xfrm>
            <a:off x="9956800" y="4165600"/>
            <a:ext cx="1473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EB0A1E"/>
                </a:solidFill>
                <a:latin typeface="Liter"/>
                <a:ea typeface="Liter"/>
              </a:rPr>
              <a:t>Alto</a:t>
            </a:r>
            <a:endParaRPr lang="en-US" sz="2000" noProof="1"/>
          </a:p>
        </p:txBody>
      </p:sp>
      <p:sp>
        <p:nvSpPr>
          <p:cNvPr id="26" name="stat3-cap"/>
          <p:cNvSpPr txBox="1"/>
          <p:nvPr/>
        </p:nvSpPr>
        <p:spPr>
          <a:xfrm>
            <a:off x="9956800" y="4546600"/>
            <a:ext cx="1473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E747C"/>
                </a:solidFill>
                <a:latin typeface="Liter"/>
                <a:ea typeface="Liter"/>
              </a:rPr>
              <a:t>+32 ventas al mes con costo marginal cercano a cero.</a:t>
            </a:r>
            <a:endParaRPr lang="en-US" sz="900" noProof="1"/>
          </a:p>
        </p:txBody>
      </p:sp>
      <p:sp>
        <p:nvSpPr>
          <p:cNvPr id="27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E2E4E8"/>
          </a:solidFill>
          <a:ln>
            <a:noFill/>
          </a:ln>
        </p:spPr>
      </p:sp>
      <p:sp>
        <p:nvSpPr>
          <p:cNvPr id="28" name="pie-izq"/>
          <p:cNvSpPr txBox="1"/>
          <p:nvPr/>
        </p:nvSpPr>
        <p:spPr>
          <a:xfrm>
            <a:off x="762000" y="65532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GAC Motor · Propuesta final — Equipo GAC</a:t>
            </a:r>
            <a:endParaRPr lang="en-US" sz="900" noProof="1"/>
          </a:p>
        </p:txBody>
      </p:sp>
      <p:sp>
        <p:nvSpPr>
          <p:cNvPr id="29" name="pie-der"/>
          <p:cNvSpPr txBox="1"/>
          <p:nvPr/>
        </p:nvSpPr>
        <p:spPr>
          <a:xfrm>
            <a:off x="10160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0A8"/>
                </a:solidFill>
                <a:latin typeface="Liter"/>
                <a:ea typeface="Liter"/>
              </a:rPr>
              <a:t>10 / 11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o-1"/>
          <p:cNvSpPr/>
          <p:nvPr/>
        </p:nvSpPr>
        <p:spPr>
          <a:xfrm>
            <a:off x="9144000" y="3302000"/>
            <a:ext cx="6604000" cy="6604000"/>
          </a:xfrm>
          <a:prstGeom prst="ellipse">
            <a:avLst/>
          </a:prstGeom>
          <a:noFill/>
          <a:ln w="12700">
            <a:solidFill>
              <a:srgbClr val="26313F"/>
            </a:solidFill>
          </a:ln>
        </p:spPr>
      </p:sp>
      <p:sp>
        <p:nvSpPr>
          <p:cNvPr id="3" name="arco-2"/>
          <p:cNvSpPr/>
          <p:nvPr/>
        </p:nvSpPr>
        <p:spPr>
          <a:xfrm>
            <a:off x="10160000" y="4318000"/>
            <a:ext cx="4572000" cy="4572000"/>
          </a:xfrm>
          <a:prstGeom prst="ellipse">
            <a:avLst/>
          </a:prstGeom>
          <a:noFill/>
          <a:ln w="25400">
            <a:solidFill>
              <a:srgbClr val="EB0A1E"/>
            </a:solidFill>
          </a:ln>
        </p:spPr>
      </p:sp>
      <p:sp>
        <p:nvSpPr>
          <p:cNvPr id="4" name="arco-3"/>
          <p:cNvSpPr/>
          <p:nvPr/>
        </p:nvSpPr>
        <p:spPr>
          <a:xfrm>
            <a:off x="11049000" y="5207000"/>
            <a:ext cx="2794000" cy="2794000"/>
          </a:xfrm>
          <a:prstGeom prst="ellipse">
            <a:avLst/>
          </a:prstGeom>
          <a:noFill/>
          <a:ln w="12700">
            <a:solidFill>
              <a:srgbClr val="3A4656"/>
            </a:solidFill>
          </a:ln>
        </p:spPr>
      </p:sp>
      <p:pic>
        <p:nvPicPr>
          <p:cNvPr id="5" name="logo"/>
          <p:cNvPicPr/>
          <p:nvPr/>
        </p:nvPicPr>
        <p:blipFill>
          <a:blip r:embed="rId2"/>
          <a:srcRect t="31" b="31"/>
          <a:stretch>
            <a:fillRect/>
          </a:stretch>
        </p:blipFill>
        <p:spPr>
          <a:xfrm>
            <a:off x="10541000" y="457200"/>
            <a:ext cx="939800" cy="863600"/>
          </a:xfrm>
          <a:prstGeom prst="rect">
            <a:avLst/>
          </a:prstGeom>
          <a:ln>
            <a:noFill/>
          </a:ln>
        </p:spPr>
      </p:pic>
      <p:sp>
        <p:nvSpPr>
          <p:cNvPr id="6" name="kicker"/>
          <p:cNvSpPr txBox="1"/>
          <p:nvPr/>
        </p:nvSpPr>
        <p:spPr>
          <a:xfrm>
            <a:off x="762000" y="177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EB0A1E"/>
                </a:solidFill>
                <a:latin typeface="Liter"/>
                <a:ea typeface="Liter"/>
              </a:rPr>
              <a:t>CIERRE</a:t>
            </a:r>
            <a:endParaRPr lang="en-US" sz="1100" noProof="1"/>
          </a:p>
        </p:txBody>
      </p:sp>
      <p:sp>
        <p:nvSpPr>
          <p:cNvPr id="7" name="titular"/>
          <p:cNvSpPr txBox="1"/>
          <p:nvPr/>
        </p:nvSpPr>
        <p:spPr>
          <a:xfrm>
            <a:off x="762000" y="2108200"/>
            <a:ext cx="939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 b="1">
                <a:solidFill>
                  <a:srgbClr val="FFFFFF"/>
                </a:solidFill>
                <a:latin typeface="Liter"/>
                <a:ea typeface="Liter"/>
              </a:rPr>
              <a:t>La propuesta no pide más leads.</a:t>
            </a:r>
            <a:endParaRPr lang="en-US" sz="3400" noProof="1"/>
          </a:p>
        </p:txBody>
      </p:sp>
      <p:sp>
        <p:nvSpPr>
          <p:cNvPr id="8" name="sub"/>
          <p:cNvSpPr txBox="1"/>
          <p:nvPr/>
        </p:nvSpPr>
        <p:spPr>
          <a:xfrm>
            <a:off x="762000" y="2844800"/>
            <a:ext cx="812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C7CAD1"/>
                </a:solidFill>
                <a:latin typeface="Liter"/>
                <a:ea typeface="Liter"/>
              </a:rPr>
              <a:t>Pide usar mejor lo que ya funciona — PDM, SDC y el Top 6 — para que todo el equipo venda como ellos.</a:t>
            </a:r>
            <a:endParaRPr lang="en-US" sz="1500" noProof="1"/>
          </a:p>
        </p:txBody>
      </p:sp>
      <p:sp>
        <p:nvSpPr>
          <p:cNvPr id="9" name="paso-card"/>
          <p:cNvSpPr/>
          <p:nvPr/>
        </p:nvSpPr>
        <p:spPr>
          <a:xfrm>
            <a:off x="762000" y="3937000"/>
            <a:ext cx="8636000" cy="1168400"/>
          </a:xfrm>
          <a:prstGeom prst="rect">
            <a:avLst/>
          </a:prstGeom>
          <a:solidFill>
            <a:srgbClr val="141E2C"/>
          </a:solidFill>
          <a:ln>
            <a:noFill/>
          </a:ln>
        </p:spPr>
      </p:sp>
      <p:sp>
        <p:nvSpPr>
          <p:cNvPr id="10" name="paso-barra"/>
          <p:cNvSpPr/>
          <p:nvPr/>
        </p:nvSpPr>
        <p:spPr>
          <a:xfrm>
            <a:off x="762000" y="3937000"/>
            <a:ext cx="50800" cy="1168400"/>
          </a:xfrm>
          <a:prstGeom prst="rect">
            <a:avLst/>
          </a:prstGeom>
          <a:solidFill>
            <a:srgbClr val="EB0A1E"/>
          </a:solidFill>
          <a:ln>
            <a:noFill/>
          </a:ln>
        </p:spPr>
      </p:sp>
      <p:sp>
        <p:nvSpPr>
          <p:cNvPr id="11" name="paso-label"/>
          <p:cNvSpPr txBox="1"/>
          <p:nvPr/>
        </p:nvSpPr>
        <p:spPr>
          <a:xfrm>
            <a:off x="1066800" y="41148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EB0A1E"/>
                </a:solidFill>
                <a:latin typeface="Liter"/>
                <a:ea typeface="Liter"/>
              </a:rPr>
              <a:t>PRÓXIMO PASO</a:t>
            </a:r>
            <a:endParaRPr lang="en-US" sz="1000" noProof="1"/>
          </a:p>
        </p:txBody>
      </p:sp>
      <p:sp>
        <p:nvSpPr>
          <p:cNvPr id="12" name="paso-texto"/>
          <p:cNvSpPr txBox="1"/>
          <p:nvPr/>
        </p:nvSpPr>
        <p:spPr>
          <a:xfrm>
            <a:off x="1066800" y="4368800"/>
            <a:ext cx="7874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FFFFFF"/>
                </a:solidFill>
                <a:latin typeface="Liter"/>
                <a:ea typeface="Liter"/>
              </a:rPr>
              <a:t>Aprobar Fase 1 — rediseño de KPIs + piloto de capacitación IA con el Top 6 — para arrancar en 30 días.</a:t>
            </a:r>
            <a:endParaRPr lang="en-US" sz="1250" noProof="1"/>
          </a:p>
        </p:txBody>
      </p:sp>
      <p:sp>
        <p:nvSpPr>
          <p:cNvPr id="13" name="gracias"/>
          <p:cNvSpPr txBox="1"/>
          <p:nvPr/>
        </p:nvSpPr>
        <p:spPr>
          <a:xfrm>
            <a:off x="762000" y="5664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Liter"/>
                <a:ea typeface="Liter"/>
              </a:rPr>
              <a:t>Gracias — Equipo GAC</a:t>
            </a:r>
            <a:endParaRPr lang="en-US" sz="1400" noProof="1"/>
          </a:p>
        </p:txBody>
      </p:sp>
      <p:sp>
        <p:nvSpPr>
          <p:cNvPr id="14" name="nombres"/>
          <p:cNvSpPr txBox="1"/>
          <p:nvPr/>
        </p:nvSpPr>
        <p:spPr>
          <a:xfrm>
            <a:off x="762000" y="5969000"/>
            <a:ext cx="660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9AA0A8"/>
                </a:solidFill>
                <a:latin typeface="Liter"/>
                <a:ea typeface="Liter"/>
              </a:rPr>
              <a:t>Carlos Lechuga · Oscar Méndez · Gabriel Omar · Josué Castillo</a:t>
            </a:r>
            <a:endParaRPr lang="en-US" sz="10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11</Slides>
</Properties>
</file>

<file path=docProps/core.xml><?xml version="1.0" encoding="utf-8"?>
<cp:coreProperties xmlns:dc="http://purl.org/dc/elements/1.1/" xmlns:cp="http://schemas.openxmlformats.org/package/2006/metadata/core-properties">
  <dc:title>GAC Motor — Propuesta final (identidad GAC)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