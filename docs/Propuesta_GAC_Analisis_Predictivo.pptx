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GRUPO AUTOS DEL CENTRO | AGOSTO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Propuesta de Mejora</a:t>
            </a:r>
            <a:br/>
            <a:r>
              <a:t>en Conversión de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DCF0"/>
                </a:solidFill>
              </a:defRPr>
            </a:pPr>
            <a:r>
              <a:t>Análisis predictivo basado en regresiones logísticas y lineales múltiples</a:t>
            </a:r>
            <a:br/>
            <a:r>
              <a:t>sobre 668 leads, 339 pruebas de manejo y 58 ventas concretadas —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📊 Contexto: Embudo de Conversión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874A6"/>
                </a:solidFill>
              </a:defRPr>
            </a:pPr>
            <a:r>
              <a:t>Diagnóstico del Funnel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De 668 leads capturados en agosto 2026: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50.7% realizó prueba de manejo (PDM) — 339 leads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41.2% solicitó crédito (SDC) — 275 leads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8.7% concretó compra — 58 ventas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⚠️ Hallazgo Crítico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La tasa de conversión global (8.7%) está por debajo del benchmark del sector automotriz (12-15%). Sin embargo, el modelo identifica que los leads que solicitan crédito tienen 4.1 veces más probabilidad de comprar.</a:t>
            </a:r>
          </a:p>
        </p:txBody>
      </p:sp>
      <p:pic>
        <p:nvPicPr>
          <p:cNvPr id="6" name="Picture 5" descr="07_embudo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3267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🔮 Modelo Predictivo: ¿Quién Compra?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874A6"/>
                </a:solidFill>
              </a:defRPr>
            </a:pPr>
            <a:r>
              <a:t>Regresión Logística (AUC = 0.815)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El modelo clasifica correctamente al 91.3% de los leads y detecta patrones de compra con alta precisión.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A5276"/>
                </a:solidFill>
              </a:defRPr>
            </a:pPr>
            <a:r>
              <a:t>Variable                    OR      Interpretación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SDC (Solicitud de Crédito)  4.11x   Multiplica odds ×4.1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PDM (Prueba de Manejo)      2.32x   Duplica probabilidad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Potencial de Compra (%)     1.09x   +8.6% por punto extra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t>Todas las variables son estadísticamente significativas (p &lt; 0.05)</a:t>
            </a:r>
          </a:p>
        </p:txBody>
      </p:sp>
      <p:pic>
        <p:nvPicPr>
          <p:cNvPr id="6" name="Picture 5" descr="01_modelo_logi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1862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📈 Impacto de cada Variable en la Venta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874A6"/>
                </a:solidFill>
              </a:defRPr>
            </a:pPr>
            <a:r>
              <a:t>Interpretación de Negocio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700" b="1">
                <a:solidFill>
                  <a:srgbClr val="C0392B"/>
                </a:solidFill>
              </a:defRPr>
            </a:pPr>
            <a:r>
              <a:t>🎯 Prioridad 1: Solicitud de Crédito (SDC)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OR = 4.11 | Es el predictor más potente. Un lead que solicita crédito tiene 311% más probabilidad de convertir que uno que no lo hace.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700" b="1">
                <a:solidFill>
                  <a:srgbClr val="E67E22"/>
                </a:solidFill>
              </a:defRPr>
            </a:pPr>
            <a:r>
              <a:t>🎯 Prioridad 2: Prueba de Manejo (PDM)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OR = 2.32 | La experiencia física con el vehículo duplica las probabilidades de cierre. Es el segundo factor más influyente.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700" b="1">
                <a:solidFill>
                  <a:srgbClr val="27AE60"/>
                </a:solidFill>
              </a:defRPr>
            </a:pPr>
            <a:r>
              <a:t>🎯 Prioridad 3: Potencial de Compra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OR = 1.09 | Aunque su efecto es menor, es estadísticamente significativo y sirve como filtro temprano de calidad de lead.</a:t>
            </a:r>
          </a:p>
        </p:txBody>
      </p:sp>
      <p:pic>
        <p:nvPicPr>
          <p:cNvPr id="6" name="Picture 5" descr="02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2712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📉 Modelo de Desempeño: Ventas por Asesor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874A6"/>
                </a:solidFill>
              </a:defRPr>
            </a:pPr>
            <a:r>
              <a:t>Regresión Lineal Múltiple (R² = 0.862)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El modelo explica el 86.2% de la variabilidad en ventas por asesor, confirmando que el desempeño no es aleatorio.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 b="1">
                <a:solidFill>
                  <a:srgbClr val="1A5276"/>
                </a:solidFill>
              </a:defRPr>
            </a:pPr>
            <a:r>
              <a:t>Variable          Coef.    Impacto                          Signif.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27AE60"/>
                </a:solidFill>
              </a:defRPr>
            </a:pPr>
            <a:r>
              <a:t>Total_PDM        +0.279   Cada PDM = +0.28 ventas           ✓ p=0.010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t>Total_SDC        +0.140   Cada SDC = +0.14 ventas           ✗ p=0.110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t>Total_Leads      -0.101   Más leads ≠ más ventas            ✗ p=0.138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600" b="1">
                <a:solidFill>
                  <a:srgbClr val="E67E22"/>
                </a:solidFill>
              </a:defRPr>
            </a:pPr>
            <a:r>
              <a:t>💡 Insight Clave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La cantidad de leads asignados NO predice ventas (p = 0.138). Lo que SÍ predice es la cantidad de PDM realizadas. La calidad del proceso supera a la cantidad de oportunidades.</a:t>
            </a:r>
          </a:p>
        </p:txBody>
      </p:sp>
      <p:pic>
        <p:nvPicPr>
          <p:cNvPr id="6" name="Picture 5" descr="06_real_vs_predi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3001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🔗 Correlaciones y Multicolinealidad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874A6"/>
                </a:solidFill>
              </a:defRPr>
            </a:pPr>
            <a:r>
              <a:t>Matriz de Correlación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Ventas correlaciona fuertemente con PDM (0.92), SDC (0.90) y Leads (0.89). El Potencial de Compra tiene correlación débil con ventas (0.09).</a:t>
            </a:r>
          </a:p>
        </p:txBody>
      </p:sp>
      <p:pic>
        <p:nvPicPr>
          <p:cNvPr id="6" name="Picture 5" descr="03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03520" cy="4916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 b="1">
                <a:solidFill>
                  <a:srgbClr val="C0392B"/>
                </a:solidFill>
              </a:defRPr>
            </a:pPr>
            <a:r>
              <a:t>⚠️ Advertencia: Multicolinealidad Detectada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Los VIF de Total_Leads (79.3), Total_PDM (50.2) y Total_SDC (27.4) son extremadamente altos. Estas variables están fuertemente correlacionadas entre sí.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E67E22"/>
                </a:solidFill>
              </a:defRPr>
            </a:pPr>
            <a:r>
              <a:t>📌 Implicación Estratégica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No se pueden interpretar de forma aislada. La estrategia debe enfocarse en el ratio PDM/Leads y SDC/PDM como métricas de eficiencia, no en volúmenes absolutos.</a:t>
            </a:r>
          </a:p>
        </p:txBody>
      </p:sp>
      <p:pic>
        <p:nvPicPr>
          <p:cNvPr id="8" name="Picture 7" descr="04_v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912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✅ Validación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2874A6"/>
                </a:solidFill>
              </a:defRPr>
            </a:pPr>
            <a:r>
              <a:t>Pruebas de Calidad del Modelo Lineal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6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600" b="1">
                <a:solidFill>
                  <a:srgbClr val="1A5276"/>
                </a:solidFill>
              </a:defRPr>
            </a:pPr>
            <a:r>
              <a:t>📐 Normalidad de Residuos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Test de Shapiro-Wilk: stat = 0.949, p = 0.170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✓ Los residuos siguen distribución normal. El modelo es válido.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6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600" b="1">
                <a:solidFill>
                  <a:srgbClr val="1A5276"/>
                </a:solidFill>
              </a:defRPr>
            </a:pPr>
            <a:r>
              <a:t>📈 Homocedasticidad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El gráfico de Residuos vs Predichos no muestra patrón de embudo.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✓ La varianza es constante. No hay sesgo sistemático.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6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600" b="1">
                <a:solidFill>
                  <a:srgbClr val="1A5276"/>
                </a:solidFill>
              </a:defRPr>
            </a:pPr>
            <a:r>
              <a:t>🎯 Ajuste Real vs Predicho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Los puntos se agrupan alrededor de la línea de 45°.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✓ R² = 0.862 indica excelente poder predictivo.</a:t>
            </a:r>
          </a:p>
        </p:txBody>
      </p:sp>
      <p:pic>
        <p:nvPicPr>
          <p:cNvPr id="6" name="Picture 5" descr="05_diagnostico_residu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772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🚀 Propuesta Estratégica: Acciones Inmediatas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1. Implementar 'Crédito Primero' como protocolo obligatorio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Justificación: OR = 4.11. Es el predictor más potente.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Capacitar a asesores para solicitar precalificación de crédito en la primera cita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Crear incentivo económico por SDC logrado (no solo por venta)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Meta: elevar tasa SDC de 41.2% a 60% en 90 días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27AE60"/>
                </a:solidFill>
              </a:defRPr>
            </a:pPr>
            <a:r>
              <a:t>• Impacto estimado: +15-20 ventas mensuales adicionales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2. Campaña 'PDM Garantizada' para leads digitales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Justificación: OR = 2.32. La experiencia física duplica la conversión.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Agendamiento automático de PDM dentro de 48h de recepción de lead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Ofrecer PDM a domicilio para leads con potencial ≥ 70%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Meta: elevar tasa PDM de 50.7% a 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🎯 Propuesta Estratégica: Gestión y Métricas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3. Rediseñar KPIs de asesores: de 'Leads' a 'PDM efectivos'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Justificación: Total_Leads no predice ventas (p = 0.138), pero Total_PDM sí (p = 0.010).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Eliminar bonificación por volumen de leads atendidos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Implementar scorecard: 40% PDM, 30% SDC, 30% Ventas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Revisión semanal de ratio PDM/Leads por asesor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4. Sistema de Alertas Tempranas con el Modelo Predictivo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Justificación: AUC = 0.815 permite clasificación confiable.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Score de probabilidad de compra automático para cada lead nuevo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Leads con score &lt; 30%: ruta de nutrición automatizada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Leads con score &gt; 70%: intervención directa de gerente + prioridad de PDM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5. Intervención de Gerente en leads 'Calientes'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Protocolo: cualquier lead con PDM + SDC debe tener cierre acompañado por gerente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• Reducir abandono en la etapa final del funnel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📊 Proyección de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A5276"/>
                </a:solidFill>
              </a:defRPr>
            </a:pPr>
            <a:r>
              <a:t>Escenario                    PDM      SDC      Ventas Est.   Incremento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Actual (Agosto)              50.7%    41.2%    58            —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Conservador (+10% PDM/SDC)   60%      50%      ~72           +24%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7AE60"/>
                </a:solidFill>
              </a:defRPr>
            </a:pPr>
            <a:r>
              <a:t>Óptimo (meta propuesta)      70%      60%      ~90           +55%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600"/>
              </a:spcAft>
              <a:defRPr sz="1200" b="0">
                <a:solidFill>
                  <a:srgbClr val="787878"/>
                </a:solidFill>
              </a:defRPr>
            </a:pPr>
            <a:r>
              <a:t>*Proyección basada en coeficientes del modelo lineal: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787878"/>
                </a:solidFill>
              </a:defRPr>
            </a:pPr>
            <a:r>
              <a:t>cada PDM adicional = +0.28 ventas; cada SDC adicional = +0.14 ventas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500" b="1">
                <a:solidFill>
                  <a:srgbClr val="27AE60"/>
                </a:solidFill>
              </a:defRPr>
            </a:pPr>
            <a:r>
              <a:t>Inversión Requerida:        Baja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Capacitación + ajuste de incentivos. Sin inversión en infraestructura.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6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500" b="1">
                <a:solidFill>
                  <a:srgbClr val="E67E22"/>
                </a:solidFill>
              </a:defRPr>
            </a:pPr>
            <a:r>
              <a:t>Tiempo de Implementación:   30-60 días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Cambios en procesos y capacitación de asesores.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6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600"/>
              </a:spcAft>
              <a:defRPr sz="1500" b="1">
                <a:solidFill>
                  <a:srgbClr val="1A5276"/>
                </a:solidFill>
              </a:defRPr>
            </a:pPr>
            <a:r>
              <a:t>ROI Esperado:               Alto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+32 ventas/mes con costo marginal cercano a cero.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DCF0"/>
                </a:solidFill>
              </a:defRPr>
            </a:pPr>
            <a:r>
              <a:t>Los datos hablan. La decisión es nuestra.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2200" b="1">
                <a:solidFill>
                  <a:srgbClr val="E67E22"/>
                </a:solidFill>
              </a:defRPr>
            </a:pPr>
            <a:r>
              <a:t>Resumen Ejecutivo</a:t>
            </a:r>
          </a:p>
          <a:p>
            <a:pPr algn="l">
              <a:spcBef>
                <a:spcPts val="800"/>
              </a:spcBef>
              <a:defRPr sz="1600">
                <a:solidFill>
                  <a:srgbClr val="E6F0FA"/>
                </a:solidFill>
              </a:defRPr>
            </a:pPr>
            <a:r>
              <a:t>• El modelo predice ventas con 81.5% de precisión (AUC)</a:t>
            </a:r>
          </a:p>
          <a:p>
            <a:pPr algn="l">
              <a:spcBef>
                <a:spcPts val="800"/>
              </a:spcBef>
              <a:defRPr sz="1600">
                <a:solidFill>
                  <a:srgbClr val="E6F0FA"/>
                </a:solidFill>
              </a:defRPr>
            </a:pPr>
            <a:r>
              <a:t>• SDC es el factor más influyente: multiplica por 4.1 las odds de compra</a:t>
            </a:r>
          </a:p>
          <a:p>
            <a:pPr algn="l">
              <a:spcBef>
                <a:spcPts val="800"/>
              </a:spcBef>
              <a:defRPr sz="1600">
                <a:solidFill>
                  <a:srgbClr val="E6F0FA"/>
                </a:solidFill>
              </a:defRPr>
            </a:pPr>
            <a:r>
              <a:t>• PDM es el segundo factor: duplica las probabilidades</a:t>
            </a:r>
          </a:p>
          <a:p>
            <a:pPr algn="l">
              <a:spcBef>
                <a:spcPts val="800"/>
              </a:spcBef>
              <a:defRPr sz="1600">
                <a:solidFill>
                  <a:srgbClr val="E6F0FA"/>
                </a:solidFill>
              </a:defRPr>
            </a:pPr>
            <a:r>
              <a:t>• La cantidad de leads NO predice ventas; la calidad del proceso SÍ</a:t>
            </a:r>
          </a:p>
          <a:p>
            <a:pPr algn="l">
              <a:spcBef>
                <a:spcPts val="800"/>
              </a:spcBef>
              <a:defRPr sz="1600">
                <a:solidFill>
                  <a:srgbClr val="E6F0FA"/>
                </a:solidFill>
              </a:defRPr>
            </a:pPr>
            <a:r>
              <a:t>• Implementar las 5 acciones propuestas puede incrementar ventas en +24% a +55%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