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Hedvig Letters Sans" charset="-122" pitchFamily="34"/>
      <p:regular r:id="rId13"/>
    </p:embeddedFont>
    <p:embeddedFont>
      <p:font typeface="Coda" charset="-122" pitchFamily="34"/>
      <p:regular r:id="rId14"/>
    </p:embeddedFont>
    <p:embeddedFont>
      <p:font typeface="Mi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4A0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-acento"/>
          <p:cNvSpPr/>
          <p:nvPr/>
        </p:nvSpPr>
        <p:spPr>
          <a:xfrm>
            <a:off x="1143000" y="2260600"/>
            <a:ext cx="812800" cy="63500"/>
          </a:xfrm>
          <a:prstGeom prst="rect">
            <a:avLst/>
          </a:prstGeom>
          <a:solidFill>
            <a:srgbClr val="E4002B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1143000" y="1778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9747F"/>
                </a:solidFill>
                <a:latin typeface="MiSans"/>
                <a:ea typeface="MiSans"/>
              </a:rPr>
              <a:t>TC2003B · GESTIÓN DE PLATAFORMAS TECNOLÓGICAS · SOCIO FORMADOR GAC</a:t>
            </a:r>
            <a:endParaRPr lang="en-US" sz="1100" noProof="1"/>
          </a:p>
        </p:txBody>
      </p:sp>
      <p:sp>
        <p:nvSpPr>
          <p:cNvPr id="4" name="titulo"/>
          <p:cNvSpPr txBox="1"/>
          <p:nvPr/>
        </p:nvSpPr>
        <p:spPr>
          <a:xfrm>
            <a:off x="1143000" y="2476500"/>
            <a:ext cx="990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4400" noProof="1" b="1">
                <a:solidFill>
                  <a:srgbClr val="FFFFFF"/>
                </a:solidFill>
                <a:latin typeface="MiSans"/>
                <a:ea typeface="MiSans"/>
              </a:rPr>
              <a:t>Actividad 4</a:t>
            </a:r>
            <a:endParaRPr lang="en-US" sz="4400" noProof="1"/>
          </a:p>
          <a:p>
            <a:pPr>
              <a:lnSpc>
                <a:spcPct val="115000"/>
              </a:lnSpc>
            </a:pPr>
            <a:r>
              <a:rPr lang="en-US" sz="4400" noProof="1" b="1">
                <a:solidFill>
                  <a:srgbClr val="FFFFFF"/>
                </a:solidFill>
                <a:latin typeface="MiSans"/>
                <a:ea typeface="MiSans"/>
              </a:rPr>
              <a:t>Despliegue ANOVA</a:t>
            </a:r>
            <a:endParaRPr lang="en-US" sz="4400" noProof="1"/>
          </a:p>
        </p:txBody>
      </p:sp>
      <p:sp>
        <p:nvSpPr>
          <p:cNvPr id="5" name="subtitulo"/>
          <p:cNvSpPr txBox="1"/>
          <p:nvPr/>
        </p:nvSpPr>
        <p:spPr>
          <a:xfrm>
            <a:off x="1143000" y="3873500"/>
            <a:ext cx="889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C9747F"/>
                </a:solidFill>
                <a:latin typeface="MiSans"/>
                <a:ea typeface="MiSans"/>
              </a:rPr>
              <a:t>Análisis de varianza one-way y multifactorial sobre la base Citas Digital de GAC Motor</a:t>
            </a:r>
            <a:endParaRPr lang="en-US" sz="1500" noProof="1"/>
          </a:p>
        </p:txBody>
      </p:sp>
      <p:sp>
        <p:nvSpPr>
          <p:cNvPr id="6" name="linea"/>
          <p:cNvSpPr/>
          <p:nvPr/>
        </p:nvSpPr>
        <p:spPr>
          <a:xfrm>
            <a:off x="1143000" y="5740400"/>
            <a:ext cx="9906000" cy="12700"/>
          </a:xfrm>
          <a:prstGeom prst="rect">
            <a:avLst/>
          </a:prstGeom>
          <a:solidFill>
            <a:srgbClr val="6B2438"/>
          </a:solidFill>
          <a:ln>
            <a:noFill/>
          </a:ln>
        </p:spPr>
      </p:sp>
      <p:sp>
        <p:nvSpPr>
          <p:cNvPr id="7" name="autor"/>
          <p:cNvSpPr txBox="1"/>
          <p:nvPr/>
        </p:nvSpPr>
        <p:spPr>
          <a:xfrm>
            <a:off x="1143000" y="5918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C9747F"/>
                </a:solidFill>
                <a:latin typeface="MiSans"/>
                <a:ea typeface="MiSans"/>
              </a:rPr>
              <a:t>Gabriel Omar Pérez · Octubre 2026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01 · DESCRIPCIÓN DE LA BASE DE DATOS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Citas Digital — seguimiento de leads GAC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5" name="desc"/>
          <p:cNvSpPr txBox="1"/>
          <p:nvPr/>
        </p:nvSpPr>
        <p:spPr>
          <a:xfrm>
            <a:off x="762000" y="1676400"/>
            <a:ext cx="533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Base proporcionada por el socio formador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GAC Motor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con el seguimiento de leads del canal digital: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668 registros reales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y 15 columnas (agente BDC, estatus del lead, prueba de manejo, solicitud de crédito, venta y motivos de no avance).</a:t>
            </a:r>
            <a:endParaRPr lang="en-US" sz="1300" noProof="1"/>
          </a:p>
        </p:txBody>
      </p:sp>
      <p:sp>
        <p:nvSpPr>
          <p:cNvPr id="6" name="var-titulo"/>
          <p:cNvSpPr txBox="1"/>
          <p:nvPr/>
        </p:nvSpPr>
        <p:spPr>
          <a:xfrm>
            <a:off x="762000" y="32004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800020"/>
                </a:solidFill>
                <a:latin typeface="MiSans"/>
                <a:ea typeface="MiSans"/>
              </a:rPr>
              <a:t>VARIABLES OBJETIVO DEL ANÁLISIS</a:t>
            </a:r>
            <a:endParaRPr lang="en-US" sz="1200" noProof="1"/>
          </a:p>
        </p:txBody>
      </p:sp>
      <p:sp>
        <p:nvSpPr>
          <p:cNvPr id="7" name="v1"/>
          <p:cNvSpPr txBox="1"/>
          <p:nvPr/>
        </p:nvSpPr>
        <p:spPr>
          <a:xfrm>
            <a:off x="762000" y="35814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1. Potencial de compra (%)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— variable cuantitativa de respuesta; la asigna el asesor a cada lead (5–100%).</a:t>
            </a:r>
            <a:endParaRPr lang="en-US" sz="1300" noProof="1"/>
          </a:p>
        </p:txBody>
      </p:sp>
      <p:sp>
        <p:nvSpPr>
          <p:cNvPr id="8" name="l1"/>
          <p:cNvSpPr/>
          <p:nvPr/>
        </p:nvSpPr>
        <p:spPr>
          <a:xfrm>
            <a:off x="762000" y="4241800"/>
            <a:ext cx="5334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9" name="v2"/>
          <p:cNvSpPr txBox="1"/>
          <p:nvPr/>
        </p:nvSpPr>
        <p:spPr>
          <a:xfrm>
            <a:off x="762000" y="43688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2. Agente BDC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— factor categórico con 4 niveles: Ana, Antonio, Ignacio y Saul.</a:t>
            </a:r>
            <a:endParaRPr lang="en-US" sz="1300" noProof="1"/>
          </a:p>
        </p:txBody>
      </p:sp>
      <p:sp>
        <p:nvSpPr>
          <p:cNvPr id="10" name="l2"/>
          <p:cNvSpPr/>
          <p:nvPr/>
        </p:nvSpPr>
        <p:spPr>
          <a:xfrm>
            <a:off x="762000" y="5029200"/>
            <a:ext cx="5334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1" name="v3"/>
          <p:cNvSpPr txBox="1"/>
          <p:nvPr/>
        </p:nvSpPr>
        <p:spPr>
          <a:xfrm>
            <a:off x="762000" y="5156200"/>
            <a:ext cx="5334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3. Prueba de manejo (PDM)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— factor binario: el lead realizó o no prueba de manejo.</a:t>
            </a:r>
            <a:endParaRPr lang="en-US" sz="1300" noProof="1"/>
          </a:p>
        </p:txBody>
      </p:sp>
      <p:pic>
        <p:nvPicPr>
          <p:cNvPr id="12" name="hist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6477000" y="1778000"/>
            <a:ext cx="4953000" cy="2971800"/>
          </a:xfrm>
          <a:prstGeom prst="rect">
            <a:avLst/>
          </a:prstGeom>
          <a:ln>
            <a:noFill/>
          </a:ln>
        </p:spPr>
      </p:pic>
      <p:sp>
        <p:nvSpPr>
          <p:cNvPr id="13" name="hist-cap"/>
          <p:cNvSpPr txBox="1"/>
          <p:nvPr/>
        </p:nvSpPr>
        <p:spPr>
          <a:xfrm>
            <a:off x="6477000" y="48514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Distribución del Potencial de compra tras el preprocesamiento (n = 531)</a:t>
            </a:r>
            <a:endParaRPr lang="en-US" sz="1000" noProof="1"/>
          </a:p>
        </p:txBody>
      </p:sp>
      <p:sp>
        <p:nvSpPr>
          <p:cNvPr id="14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5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6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02 · PREPROCESAMIENTO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Nulos, outliers y transformaciones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762000" y="17780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00020"/>
                </a:solidFill>
                <a:latin typeface="MiSans"/>
                <a:ea typeface="MiSans"/>
              </a:rPr>
              <a:t>57</a:t>
            </a:r>
            <a:endParaRPr lang="en-US" sz="3600" noProof="1"/>
          </a:p>
        </p:txBody>
      </p:sp>
      <p:sp>
        <p:nvSpPr>
          <p:cNvPr id="6" name="n1-t"/>
          <p:cNvSpPr txBox="1"/>
          <p:nvPr/>
        </p:nvSpPr>
        <p:spPr>
          <a:xfrm>
            <a:off x="762000" y="25146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Nulos eliminados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en Potencial de compra (registros sin porcentaje asignado).</a:t>
            </a:r>
            <a:endParaRPr lang="en-US" sz="1300" noProof="1"/>
          </a:p>
        </p:txBody>
      </p:sp>
      <p:sp>
        <p:nvSpPr>
          <p:cNvPr id="7" name="n2"/>
          <p:cNvSpPr txBox="1"/>
          <p:nvPr/>
        </p:nvSpPr>
        <p:spPr>
          <a:xfrm>
            <a:off x="4445000" y="17780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00020"/>
                </a:solidFill>
                <a:latin typeface="MiSans"/>
                <a:ea typeface="MiSans"/>
              </a:rPr>
              <a:t>14 → 3</a:t>
            </a:r>
            <a:endParaRPr lang="en-US" sz="3600" noProof="1"/>
          </a:p>
        </p:txBody>
      </p:sp>
      <p:sp>
        <p:nvSpPr>
          <p:cNvPr id="8" name="n2-t"/>
          <p:cNvSpPr txBox="1"/>
          <p:nvPr/>
        </p:nvSpPr>
        <p:spPr>
          <a:xfrm>
            <a:off x="4445000" y="25146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Categorías unificadas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: "Acitvo", "Activo-", "activo"… eran el mismo estatus con errores de captura.</a:t>
            </a:r>
            <a:endParaRPr lang="en-US" sz="1300" noProof="1"/>
          </a:p>
        </p:txBody>
      </p:sp>
      <p:sp>
        <p:nvSpPr>
          <p:cNvPr id="9" name="n3"/>
          <p:cNvSpPr txBox="1"/>
          <p:nvPr/>
        </p:nvSpPr>
        <p:spPr>
          <a:xfrm>
            <a:off x="8128000" y="1778000"/>
            <a:ext cx="330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800020"/>
                </a:solidFill>
                <a:latin typeface="MiSans"/>
                <a:ea typeface="MiSans"/>
              </a:rPr>
              <a:t>67</a:t>
            </a:r>
            <a:endParaRPr lang="en-US" sz="3600" noProof="1"/>
          </a:p>
        </p:txBody>
      </p:sp>
      <p:sp>
        <p:nvSpPr>
          <p:cNvPr id="10" name="n3-t"/>
          <p:cNvSpPr txBox="1"/>
          <p:nvPr/>
        </p:nvSpPr>
        <p:spPr>
          <a:xfrm>
            <a:off x="8128000" y="25146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Outliers por IQR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: potenciales fuera del rango 55–95% (valores de 5% o 100%).</a:t>
            </a:r>
            <a:endParaRPr lang="en-US" sz="1300" noProof="1"/>
          </a:p>
        </p:txBody>
      </p:sp>
      <p:sp>
        <p:nvSpPr>
          <p:cNvPr id="11" name="sep"/>
          <p:cNvSpPr/>
          <p:nvPr/>
        </p:nvSpPr>
        <p:spPr>
          <a:xfrm>
            <a:off x="762000" y="36576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2" name="transf"/>
          <p:cNvSpPr txBox="1"/>
          <p:nvPr/>
        </p:nvSpPr>
        <p:spPr>
          <a:xfrm>
            <a:off x="762000" y="38862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Transformaciones aplicadas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"90%" → 90.0 (texto a numérico)   ·   PDM / SDC / Venta → booleanos   ·   Estatus y BDC estandarizados (espacios, mayúsculas, typos)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Registros con datos inconsistentes ("11", "Antonio" como estatus) descartados: 668 →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531 registros finales</a:t>
            </a:r>
            <a:endParaRPr lang="en-US" sz="1300" noProof="1"/>
          </a:p>
        </p:txBody>
      </p:sp>
      <p:sp>
        <p:nvSpPr>
          <p:cNvPr id="13" name="robustez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6E6E6E"/>
                </a:solidFill>
                <a:latin typeface="Hedvig Letters Sans"/>
                <a:ea typeface="Hedvig Letters Sans"/>
              </a:rPr>
              <a:t>Prueba de robustez:</a:t>
            </a:r>
            <a:r>
              <a:rPr lang="en-US" sz="1300" noProof="1">
                <a:solidFill>
                  <a:srgbClr val="6E6E6E"/>
                </a:solidFill>
                <a:latin typeface="Hedvig Letters Sans"/>
                <a:ea typeface="Hedvig Letters Sans"/>
              </a:rPr>
              <a:t> el ANOVA se corrió con y sin outliers y la conclusión no cambia (F = 16.2 con outliers, F = 8.4 sin outliers; ambos p &lt; 0.001).</a:t>
            </a:r>
            <a:endParaRPr lang="en-US" sz="1300" noProof="1"/>
          </a:p>
        </p:txBody>
      </p:sp>
      <p:sp>
        <p:nvSpPr>
          <p:cNvPr id="14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5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6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03 · ANOVA ONE-WAY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¿Influye el agente BDC en el potencial?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5" name="hipotesis"/>
          <p:cNvSpPr txBox="1"/>
          <p:nvPr/>
        </p:nvSpPr>
        <p:spPr>
          <a:xfrm>
            <a:off x="762000" y="16764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H₀: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el potencial de compra promedio es igual entre los 4 agentes BDC.</a:t>
            </a:r>
            <a:endParaRPr lang="en-US" sz="13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H₁: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al menos un agente tiene un promedio distinto (α = 0.05).</a:t>
            </a:r>
            <a:endParaRPr lang="en-US" sz="1300" noProof="1"/>
          </a:p>
        </p:txBody>
      </p:sp>
      <p:sp>
        <p:nvSpPr>
          <p:cNvPr id="6" name="medias-titulo"/>
          <p:cNvSpPr txBox="1"/>
          <p:nvPr/>
        </p:nvSpPr>
        <p:spPr>
          <a:xfrm>
            <a:off x="762000" y="2870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800020"/>
                </a:solidFill>
                <a:latin typeface="MiSans"/>
                <a:ea typeface="MiSans"/>
              </a:rPr>
              <a:t>MEDIA DEL POTENCIAL POR AGENTE</a:t>
            </a:r>
            <a:endParaRPr lang="en-US" sz="1200" noProof="1"/>
          </a:p>
        </p:txBody>
      </p:sp>
      <p:sp>
        <p:nvSpPr>
          <p:cNvPr id="7" name="medias"/>
          <p:cNvSpPr txBox="1"/>
          <p:nvPr/>
        </p:nvSpPr>
        <p:spPr>
          <a:xfrm>
            <a:off x="762000" y="32258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Ana ·················· 74.2%  (n = 254)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Antonio ··········· 75.0%  (n = 213)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Ignacio ··········· 72.0%  (n = 15)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Saul ··············· 80.4%  (n = 49)</a:t>
            </a:r>
            <a:endParaRPr lang="en-US" sz="1300" noProof="1"/>
          </a:p>
        </p:txBody>
      </p:sp>
      <p:pic>
        <p:nvPicPr>
          <p:cNvPr id="8" name="boxplot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6477000" y="1778000"/>
            <a:ext cx="4953000" cy="2971800"/>
          </a:xfrm>
          <a:prstGeom prst="rect">
            <a:avLst/>
          </a:prstGeom>
          <a:ln>
            <a:noFill/>
          </a:ln>
        </p:spPr>
      </p:pic>
      <p:sp>
        <p:nvSpPr>
          <p:cNvPr id="9" name="box-cap"/>
          <p:cNvSpPr txBox="1"/>
          <p:nvPr/>
        </p:nvSpPr>
        <p:spPr>
          <a:xfrm>
            <a:off x="6477000" y="48514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Boxplot del potencial por agente — Saul concentra leads de mayor potencial</a:t>
            </a:r>
            <a:endParaRPr lang="en-US" sz="1000" noProof="1"/>
          </a:p>
        </p:txBody>
      </p:sp>
      <p:sp>
        <p:nvSpPr>
          <p:cNvPr id="10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1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2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04 · RESULTADOS GRÁFICOS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La diferencia se ve antes de probarse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pic>
        <p:nvPicPr>
          <p:cNvPr id="5" name="barras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762000" y="1778000"/>
            <a:ext cx="5080000" cy="3048000"/>
          </a:xfrm>
          <a:prstGeom prst="rect">
            <a:avLst/>
          </a:prstGeom>
          <a:ln>
            <a:noFill/>
          </a:ln>
        </p:spPr>
      </p:pic>
      <p:sp>
        <p:nvSpPr>
          <p:cNvPr id="6" name="barras-cap"/>
          <p:cNvSpPr txBox="1"/>
          <p:nvPr/>
        </p:nvSpPr>
        <p:spPr>
          <a:xfrm>
            <a:off x="762000" y="4927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Medias con IC 95% — el intervalo de Saul casi no se traslapa con el resto</a:t>
            </a:r>
            <a:endParaRPr lang="en-US" sz="1000" noProof="1"/>
          </a:p>
        </p:txBody>
      </p:sp>
      <p:pic>
        <p:nvPicPr>
          <p:cNvPr id="7" name="violin"/>
          <p:cNvPicPr/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6350000" y="1778000"/>
            <a:ext cx="5080000" cy="3048000"/>
          </a:xfrm>
          <a:prstGeom prst="rect">
            <a:avLst/>
          </a:prstGeom>
          <a:ln>
            <a:noFill/>
          </a:ln>
        </p:spPr>
      </p:pic>
      <p:sp>
        <p:nvSpPr>
          <p:cNvPr id="8" name="violin-cap"/>
          <p:cNvSpPr txBox="1"/>
          <p:nvPr/>
        </p:nvSpPr>
        <p:spPr>
          <a:xfrm>
            <a:off x="6350000" y="4927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Violin plot — la distribución de Saul se desplaza hacia potenciales altos</a:t>
            </a:r>
            <a:endParaRPr lang="en-US" sz="1000" noProof="1"/>
          </a:p>
        </p:txBody>
      </p:sp>
      <p:sp>
        <p:nvSpPr>
          <p:cNvPr id="9" name="lectura"/>
          <p:cNvSpPr txBox="1"/>
          <p:nvPr/>
        </p:nvSpPr>
        <p:spPr>
          <a:xfrm>
            <a:off x="762000" y="5664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Lectura: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los 4 agentes atienden carteras comparables, pero los leads de Saul llegan con un potencial de compra sistemáticamente mayor (~6 puntos por encima del promedio).</a:t>
            </a:r>
            <a:endParaRPr lang="en-US" sz="1300" noProof="1"/>
          </a:p>
        </p:txBody>
      </p:sp>
      <p:sp>
        <p:nvSpPr>
          <p:cNvPr id="10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1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2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05 · TABLA ANOVA ONE-WAY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Resultado estadístico (scipy + statsmodels)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graphicFrame>
        <p:nvGraphicFramePr>
          <p:cNvPr id="5" name="tabla"/>
          <p:cNvGraphicFramePr>
            <a:graphicFrameLocks noGrp="1"/>
          </p:cNvGraphicFramePr>
          <p:nvPr/>
        </p:nvGraphicFramePr>
        <p:xfrm>
          <a:off x="762000" y="1778000"/>
          <a:ext cx="10668000" cy="1524000"/>
        </p:xfrm>
        <a:graphic>
          <a:graphicData uri="http://schemas.openxmlformats.org/drawingml/2006/table">
            <a:tbl>
              <a:tblPr/>
              <a:tblGrid>
                <a:gridCol w="2987040"/>
                <a:gridCol w="1920240"/>
                <a:gridCol w="1066800"/>
                <a:gridCol w="1706880"/>
                <a:gridCol w="1280160"/>
                <a:gridCol w="1706880"/>
              </a:tblGrid>
              <a:tr h="51816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Fuente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Suma de cuadrados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gl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Cuadrado medio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p-valor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</a:tr>
              <a:tr h="502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Agente BDC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1717.23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572.41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8.37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1.9 × 10</a:t>
                      </a:r>
                      <a:r>
                        <a:rPr lang="en-US" sz="1200" noProof="1" b="1" baseline="300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−5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Residual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36032.01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527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68.37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</a:tr>
            </a:tbl>
          </a:graphicData>
        </a:graphic>
      </p:graphicFrame>
      <p:sp>
        <p:nvSpPr>
          <p:cNvPr id="6" name="interp"/>
          <p:cNvSpPr txBox="1"/>
          <p:nvPr/>
        </p:nvSpPr>
        <p:spPr>
          <a:xfrm>
            <a:off x="762000" y="3683000"/>
            <a:ext cx="10668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p = 0.000019 &lt; 0.05 →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se rechaza H₀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: el agente BDC sí influye en el potencial de compra asignado.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Tamaño del efecto η² = 0.046: el agente explica ~4.6% de la variabilidad del potencial (efecto chico pero real).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Supuesto de varianzas iguales verificado: prueba de Levene p = 0.68 &gt; 0.05 → homogeneidad aceptada.</a:t>
            </a:r>
            <a:endParaRPr lang="en-US" sz="1300" noProof="1"/>
          </a:p>
        </p:txBody>
      </p:sp>
      <p:sp>
        <p:nvSpPr>
          <p:cNvPr id="7" name="nota"/>
          <p:cNvSpPr txBox="1"/>
          <p:nvPr/>
        </p:nvSpPr>
        <p:spPr>
          <a:xfrm>
            <a:off x="762000" y="5537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Mismo resultado por ambas vías: scipy.stats.f_oneway (F = 8.372) y statsmodels anova_lm typ = 1, siguiendo la plantilla de clase (7_ANOVA.ipynb).</a:t>
            </a:r>
            <a:endParaRPr lang="en-US" sz="1000" noProof="1"/>
          </a:p>
        </p:txBody>
      </p:sp>
      <p:sp>
        <p:nvSpPr>
          <p:cNvPr id="8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9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0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06 · ANOVA MULTIFACTORIAL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Agente BDC × Prueba de manejo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graphicFrame>
        <p:nvGraphicFramePr>
          <p:cNvPr id="5" name="tabla"/>
          <p:cNvGraphicFramePr>
            <a:graphicFrameLocks noGrp="1"/>
          </p:cNvGraphicFramePr>
          <p:nvPr/>
        </p:nvGraphicFramePr>
        <p:xfrm>
          <a:off x="762000" y="1778000"/>
          <a:ext cx="5969000" cy="2032000"/>
        </p:xfrm>
        <a:graphic>
          <a:graphicData uri="http://schemas.openxmlformats.org/drawingml/2006/table">
            <a:tbl>
              <a:tblPr/>
              <a:tblGrid>
                <a:gridCol w="2387600"/>
                <a:gridCol w="895350"/>
                <a:gridCol w="1193800"/>
                <a:gridCol w="1492250"/>
              </a:tblGrid>
              <a:tr h="5080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Factor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gl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p-valor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Agente BDC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8.61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&lt; 0.001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Prueba de manejo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15.01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0.0001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BDC × PDM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1.35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0.259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interp"/>
          <p:cNvSpPr txBox="1"/>
          <p:nvPr/>
        </p:nvSpPr>
        <p:spPr>
          <a:xfrm>
            <a:off x="762000" y="4064000"/>
            <a:ext cx="5969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Agente BDC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y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prueba de manejo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tienen efectos principales significativos.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La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interacción no es significativa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(p = 0.259): la prueba de manejo suma potencial por igual sin importar el agente (líneas casi paralelas).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· Con prueba de manejo: +2 a +6 puntos de potencial en todos los agentes.</a:t>
            </a:r>
            <a:endParaRPr lang="en-US" sz="1300" noProof="1"/>
          </a:p>
        </p:txBody>
      </p:sp>
      <p:pic>
        <p:nvPicPr>
          <p:cNvPr id="7" name="inter"/>
          <p:cNvPicPr/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7112000" y="1778000"/>
            <a:ext cx="4318000" cy="2590800"/>
          </a:xfrm>
          <a:prstGeom prst="rect">
            <a:avLst/>
          </a:prstGeom>
          <a:ln>
            <a:noFill/>
          </a:ln>
        </p:spPr>
      </p:pic>
      <p:sp>
        <p:nvSpPr>
          <p:cNvPr id="8" name="inter-cap"/>
          <p:cNvSpPr txBox="1"/>
          <p:nvPr/>
        </p:nvSpPr>
        <p:spPr>
          <a:xfrm>
            <a:off x="7112000" y="44704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Interaction plot — pendientes casi paralelas = sin interacción</a:t>
            </a:r>
            <a:endParaRPr lang="en-US" sz="1000" noProof="1"/>
          </a:p>
        </p:txBody>
      </p:sp>
      <p:sp>
        <p:nvSpPr>
          <p:cNvPr id="9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0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1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07 · ANÁLISIS DE MÉTRICAS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Qué dice cada número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5" name="m1"/>
          <p:cNvSpPr txBox="1"/>
          <p:nvPr/>
        </p:nvSpPr>
        <p:spPr>
          <a:xfrm>
            <a:off x="762000" y="1778000"/>
            <a:ext cx="2476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800020"/>
                </a:solidFill>
                <a:latin typeface="MiSans"/>
                <a:ea typeface="MiSans"/>
              </a:rPr>
              <a:t>F = 8.37</a:t>
            </a:r>
            <a:endParaRPr lang="en-US" sz="3000" noProof="1"/>
          </a:p>
        </p:txBody>
      </p:sp>
      <p:sp>
        <p:nvSpPr>
          <p:cNvPr id="6" name="m1-t"/>
          <p:cNvSpPr txBox="1"/>
          <p:nvPr/>
        </p:nvSpPr>
        <p:spPr>
          <a:xfrm>
            <a:off x="762000" y="2489200"/>
            <a:ext cx="24765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E6E"/>
                </a:solidFill>
                <a:latin typeface="MiSans"/>
                <a:ea typeface="MiSans"/>
              </a:rPr>
              <a:t>La variabilidad ENTRE agentes es 8.4 veces la variabilidad interna de cada grupo.</a:t>
            </a:r>
            <a:endParaRPr lang="en-US" sz="1100" noProof="1"/>
          </a:p>
        </p:txBody>
      </p:sp>
      <p:sp>
        <p:nvSpPr>
          <p:cNvPr id="7" name="m2"/>
          <p:cNvSpPr txBox="1"/>
          <p:nvPr/>
        </p:nvSpPr>
        <p:spPr>
          <a:xfrm>
            <a:off x="3492500" y="1778000"/>
            <a:ext cx="2476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800020"/>
                </a:solidFill>
                <a:latin typeface="MiSans"/>
                <a:ea typeface="MiSans"/>
              </a:rPr>
              <a:t>p = 1.9e−5</a:t>
            </a:r>
            <a:endParaRPr lang="en-US" sz="3000" noProof="1"/>
          </a:p>
        </p:txBody>
      </p:sp>
      <p:sp>
        <p:nvSpPr>
          <p:cNvPr id="8" name="m2-t"/>
          <p:cNvSpPr txBox="1"/>
          <p:nvPr/>
        </p:nvSpPr>
        <p:spPr>
          <a:xfrm>
            <a:off x="3492500" y="2489200"/>
            <a:ext cx="24765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E6E"/>
                </a:solidFill>
                <a:latin typeface="MiSans"/>
                <a:ea typeface="MiSans"/>
              </a:rPr>
              <a:t>Probabilidad de ver estas diferencias por azar: 0.002%. Muy por debajo de α = 0.05.</a:t>
            </a:r>
            <a:endParaRPr lang="en-US" sz="1100" noProof="1"/>
          </a:p>
        </p:txBody>
      </p:sp>
      <p:sp>
        <p:nvSpPr>
          <p:cNvPr id="9" name="m3"/>
          <p:cNvSpPr txBox="1"/>
          <p:nvPr/>
        </p:nvSpPr>
        <p:spPr>
          <a:xfrm>
            <a:off x="6223000" y="1778000"/>
            <a:ext cx="2476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800020"/>
                </a:solidFill>
                <a:latin typeface="MiSans"/>
                <a:ea typeface="MiSans"/>
              </a:rPr>
              <a:t>η² = 0.046</a:t>
            </a:r>
            <a:endParaRPr lang="en-US" sz="3000" noProof="1"/>
          </a:p>
        </p:txBody>
      </p:sp>
      <p:sp>
        <p:nvSpPr>
          <p:cNvPr id="10" name="m3-t"/>
          <p:cNvSpPr txBox="1"/>
          <p:nvPr/>
        </p:nvSpPr>
        <p:spPr>
          <a:xfrm>
            <a:off x="6223000" y="2489200"/>
            <a:ext cx="24765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E6E"/>
                </a:solidFill>
                <a:latin typeface="MiSans"/>
                <a:ea typeface="MiSans"/>
              </a:rPr>
              <a:t>El agente explica 4.6% de la variación del potencial; el resto depende del lead mismo.</a:t>
            </a:r>
            <a:endParaRPr lang="en-US" sz="1100" noProof="1"/>
          </a:p>
        </p:txBody>
      </p:sp>
      <p:sp>
        <p:nvSpPr>
          <p:cNvPr id="11" name="m4"/>
          <p:cNvSpPr txBox="1"/>
          <p:nvPr/>
        </p:nvSpPr>
        <p:spPr>
          <a:xfrm>
            <a:off x="8953500" y="1778000"/>
            <a:ext cx="24765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800020"/>
                </a:solidFill>
                <a:latin typeface="MiSans"/>
                <a:ea typeface="MiSans"/>
              </a:rPr>
              <a:t>p = 0.68</a:t>
            </a:r>
            <a:endParaRPr lang="en-US" sz="3000" noProof="1"/>
          </a:p>
        </p:txBody>
      </p:sp>
      <p:sp>
        <p:nvSpPr>
          <p:cNvPr id="12" name="m4-t"/>
          <p:cNvSpPr txBox="1"/>
          <p:nvPr/>
        </p:nvSpPr>
        <p:spPr>
          <a:xfrm>
            <a:off x="8953500" y="2489200"/>
            <a:ext cx="24765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E6E"/>
                </a:solidFill>
                <a:latin typeface="MiSans"/>
                <a:ea typeface="MiSans"/>
              </a:rPr>
              <a:t>Levene no rechaza varianzas iguales: el supuesto de homogeneidad se cumple.</a:t>
            </a:r>
            <a:endParaRPr lang="en-US" sz="1100" noProof="1"/>
          </a:p>
        </p:txBody>
      </p:sp>
      <p:sp>
        <p:nvSpPr>
          <p:cNvPr id="13" name="sep"/>
          <p:cNvSpPr/>
          <p:nvPr/>
        </p:nvSpPr>
        <p:spPr>
          <a:xfrm>
            <a:off x="762000" y="40640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4" name="celdas-titulo"/>
          <p:cNvSpPr txBox="1"/>
          <p:nvPr/>
        </p:nvSpPr>
        <p:spPr>
          <a:xfrm>
            <a:off x="762000" y="4292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800020"/>
                </a:solidFill>
                <a:latin typeface="MiSans"/>
                <a:ea typeface="MiSans"/>
              </a:rPr>
              <a:t>POTENCIAL PROMEDIO POR CELDA (AGENTE × PRUEBA DE MANEJO)</a:t>
            </a:r>
            <a:endParaRPr lang="en-US" sz="1200" noProof="1"/>
          </a:p>
        </p:txBody>
      </p:sp>
      <p:graphicFrame>
        <p:nvGraphicFramePr>
          <p:cNvPr id="15" name="celdas"/>
          <p:cNvGraphicFramePr>
            <a:graphicFrameLocks noGrp="1"/>
          </p:cNvGraphicFramePr>
          <p:nvPr/>
        </p:nvGraphicFramePr>
        <p:xfrm>
          <a:off x="762000" y="4648200"/>
          <a:ext cx="6604000" cy="1524000"/>
        </p:xfrm>
        <a:graphic>
          <a:graphicData uri="http://schemas.openxmlformats.org/drawingml/2006/table">
            <a:tbl>
              <a:tblPr/>
              <a:tblGrid>
                <a:gridCol w="2245360"/>
                <a:gridCol w="2179320"/>
                <a:gridCol w="2179320"/>
              </a:tblGrid>
              <a:tr h="3810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Agente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Con PDM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Sin PDM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Ana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76.3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72.7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Antonio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75.6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74.1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</a:tr>
              <a:tr h="381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Saul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82.1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76.1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eldas-nota"/>
          <p:cNvSpPr txBox="1"/>
          <p:nvPr/>
        </p:nvSpPr>
        <p:spPr>
          <a:xfrm>
            <a:off x="7747000" y="4648200"/>
            <a:ext cx="3683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6E6E6E"/>
                </a:solidFill>
                <a:latin typeface="MiSans"/>
                <a:ea typeface="MiSans"/>
              </a:rPr>
              <a:t>Saul + prueba de manejo es la combinación con mayor potencial promedio (82.1%). Ignacio no registra celdas suficientes con PDM tras la limpieza.</a:t>
            </a:r>
            <a:endParaRPr lang="en-US" sz="1100" noProof="1"/>
          </a:p>
        </p:txBody>
      </p:sp>
      <p:sp>
        <p:nvSpPr>
          <p:cNvPr id="17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8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9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50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4002B"/>
                </a:solidFill>
                <a:latin typeface="MiSans"/>
                <a:ea typeface="MiSans"/>
              </a:rPr>
              <a:t>08 · SEGUNDA BASE ANALIZADA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 b="1">
                <a:solidFill>
                  <a:srgbClr val="4A0414"/>
                </a:solidFill>
                <a:latin typeface="Coda"/>
                <a:ea typeface="Coda"/>
              </a:rPr>
              <a:t>Respaldo: Plazas (leads por semana)</a:t>
            </a:r>
            <a:endParaRPr lang="en-US" sz="3800" noProof="1"/>
          </a:p>
        </p:txBody>
      </p:sp>
      <p:sp>
        <p:nvSpPr>
          <p:cNvPr id="4" name="regla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62000" y="1651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Mismo procedimiento sobre la base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Plazas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(303 leads de piso en centros comerciales). Variable de respuesta: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leads captados por semana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; factores: producto (EMZOOM, GS8, EMKOO) y plaza (Angelópolis, Gran Patio Tlaxcala).</a:t>
            </a:r>
            <a:endParaRPr lang="en-US" sz="1300" noProof="1"/>
          </a:p>
        </p:txBody>
      </p:sp>
      <p:sp>
        <p:nvSpPr>
          <p:cNvPr id="6" name="tabla1-titulo"/>
          <p:cNvSpPr txBox="1"/>
          <p:nvPr/>
        </p:nvSpPr>
        <p:spPr>
          <a:xfrm>
            <a:off x="762000" y="2413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800020"/>
                </a:solidFill>
                <a:latin typeface="MiSans"/>
                <a:ea typeface="MiSans"/>
              </a:rPr>
              <a:t>ONE-WAY — LEADS POR SEMANA ~ PRODUCTO</a:t>
            </a:r>
            <a:endParaRPr lang="en-US" sz="1200" noProof="1"/>
          </a:p>
        </p:txBody>
      </p:sp>
      <p:graphicFrame>
        <p:nvGraphicFramePr>
          <p:cNvPr id="7" name="tabla1"/>
          <p:cNvGraphicFramePr>
            <a:graphicFrameLocks noGrp="1"/>
          </p:cNvGraphicFramePr>
          <p:nvPr/>
        </p:nvGraphicFramePr>
        <p:xfrm>
          <a:off x="762000" y="2743200"/>
          <a:ext cx="5080000" cy="1143000"/>
        </p:xfrm>
        <a:graphic>
          <a:graphicData uri="http://schemas.openxmlformats.org/drawingml/2006/table">
            <a:tbl>
              <a:tblPr/>
              <a:tblGrid>
                <a:gridCol w="2032000"/>
                <a:gridCol w="1524000"/>
                <a:gridCol w="1524000"/>
              </a:tblGrid>
              <a:tr h="38862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Producto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Leads/semana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p-valor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</a:tr>
              <a:tr h="3771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GS8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4.6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0.045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EMZOOM / EMKOO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3.6 / 2.2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 vMerge="1">
                  <a:txBody>
                    <a:bodyPr wrap="square" rtlCol="0" anchor="ctr"/>
                    <a:lstStyle/>
                    <a:p>
                      <a:pPr algn="ctr"/>
                    </a:p>
                  </a:txBody>
                  <a:tcPr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abla2-titulo"/>
          <p:cNvSpPr txBox="1"/>
          <p:nvPr/>
        </p:nvSpPr>
        <p:spPr>
          <a:xfrm>
            <a:off x="6350000" y="2413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800020"/>
                </a:solidFill>
                <a:latin typeface="MiSans"/>
                <a:ea typeface="MiSans"/>
              </a:rPr>
              <a:t>MULTIFACTORIAL — PRODUCTO × PLAZA</a:t>
            </a:r>
            <a:endParaRPr lang="en-US" sz="1200" noProof="1"/>
          </a:p>
        </p:txBody>
      </p:sp>
      <p:graphicFrame>
        <p:nvGraphicFramePr>
          <p:cNvPr id="9" name="tabla2"/>
          <p:cNvGraphicFramePr>
            <a:graphicFrameLocks noGrp="1"/>
          </p:cNvGraphicFramePr>
          <p:nvPr/>
        </p:nvGraphicFramePr>
        <p:xfrm>
          <a:off x="6350000" y="2743200"/>
          <a:ext cx="5080000" cy="1778000"/>
        </p:xfrm>
        <a:graphic>
          <a:graphicData uri="http://schemas.openxmlformats.org/drawingml/2006/table">
            <a:tbl>
              <a:tblPr/>
              <a:tblGrid>
                <a:gridCol w="2235200"/>
                <a:gridCol w="1320800"/>
                <a:gridCol w="1524000"/>
              </a:tblGrid>
              <a:tr h="4445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Factor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p-valor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800020"/>
                    </a:solidFill>
                  </a:tcPr>
                </a:tc>
              </a:tr>
              <a:tr h="4445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Producto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3.72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0.032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Plaza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2.47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0.123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7ECEE"/>
                    </a:solidFill>
                  </a:tcPr>
                </a:tc>
              </a:tr>
              <a:tr h="4445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Producto × Plaza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3.52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</a:rPr>
                        <a:t>0.038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insight"/>
          <p:cNvSpPr txBox="1"/>
          <p:nvPr/>
        </p:nvSpPr>
        <p:spPr>
          <a:xfrm>
            <a:off x="762000" y="4826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Lectura: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el GS8 genera más leads semanales que el EMKOO (4.6 vs 2.2), y aquí </a:t>
            </a:r>
            <a:r>
              <a:rPr lang="en-US" sz="1300" noProof="1" b="1">
                <a:solidFill>
                  <a:srgbClr val="2B2B2B"/>
                </a:solidFill>
                <a:latin typeface="Hedvig Letters Sans"/>
                <a:ea typeface="Hedvig Letters Sans"/>
              </a:rPr>
              <a:t>sí hay interacción</a:t>
            </a:r>
            <a:r>
              <a:rPr lang="en-US" sz="1300" noProof="1">
                <a:solidFill>
                  <a:srgbClr val="2B2B2B"/>
                </a:solidFill>
                <a:latin typeface="Hedvig Letters Sans"/>
                <a:ea typeface="Hedvig Letters Sans"/>
              </a:rPr>
              <a:t> (p = 0.038): la mezcla de productos que funciona cambia según la plaza — lo que se vende en Angelópolis no se comporta igual en Tlaxcala.</a:t>
            </a:r>
            <a:endParaRPr lang="en-US" sz="1300" noProof="1"/>
          </a:p>
        </p:txBody>
      </p:sp>
      <p:sp>
        <p:nvSpPr>
          <p:cNvPr id="11" name="pie-linea"/>
          <p:cNvSpPr/>
          <p:nvPr/>
        </p:nvSpPr>
        <p:spPr>
          <a:xfrm>
            <a:off x="762000" y="6413500"/>
            <a:ext cx="10668000" cy="12700"/>
          </a:xfrm>
          <a:prstGeom prst="rect">
            <a:avLst/>
          </a:prstGeom>
          <a:solidFill>
            <a:srgbClr val="E8D9DD"/>
          </a:solidFill>
          <a:ln>
            <a:noFill/>
          </a:ln>
        </p:spPr>
      </p:sp>
      <p:sp>
        <p:nvSpPr>
          <p:cNvPr id="12" name="pie"/>
          <p:cNvSpPr txBox="1"/>
          <p:nvPr/>
        </p:nvSpPr>
        <p:spPr>
          <a:xfrm>
            <a:off x="762000" y="65151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Actividad 4 — Despliegue ANOVA · GAC Motor</a:t>
            </a:r>
            <a:endParaRPr lang="en-US" sz="1000" noProof="1"/>
          </a:p>
        </p:txBody>
      </p:sp>
      <p:sp>
        <p:nvSpPr>
          <p:cNvPr id="13" name="pag"/>
          <p:cNvSpPr txBox="1"/>
          <p:nvPr/>
        </p:nvSpPr>
        <p:spPr>
          <a:xfrm>
            <a:off x="10922000" y="65151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6E6E6E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4A0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1143000" y="889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C9747F"/>
                </a:solidFill>
                <a:latin typeface="MiSans"/>
                <a:ea typeface="MiSans"/>
              </a:rPr>
              <a:t>09 · CONCLUSIONES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1143000" y="12192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Lo que el ANOVA le dice a GAC</a:t>
            </a:r>
            <a:endParaRPr lang="en-US" sz="3000" noProof="1"/>
          </a:p>
        </p:txBody>
      </p:sp>
      <p:sp>
        <p:nvSpPr>
          <p:cNvPr id="4" name="barra"/>
          <p:cNvSpPr/>
          <p:nvPr/>
        </p:nvSpPr>
        <p:spPr>
          <a:xfrm>
            <a:off x="1143000" y="1930400"/>
            <a:ext cx="812800" cy="63500"/>
          </a:xfrm>
          <a:prstGeom prst="rect">
            <a:avLst/>
          </a:prstGeom>
          <a:solidFill>
            <a:srgbClr val="E4002B"/>
          </a:solidFill>
          <a:ln>
            <a:noFill/>
          </a:ln>
        </p:spPr>
      </p:sp>
      <p:sp>
        <p:nvSpPr>
          <p:cNvPr id="5" name="c1"/>
          <p:cNvSpPr txBox="1"/>
          <p:nvPr/>
        </p:nvSpPr>
        <p:spPr>
          <a:xfrm>
            <a:off x="1143000" y="2349500"/>
            <a:ext cx="990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1 · El agente importa.</a:t>
            </a: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 El potencial de compra difiere significativamente entre agentes BDC (p &lt; 0.001). Los leads de Saul promedian 80.4% contra 72–75% del resto: conviene replicar su criterio de calificación.</a:t>
            </a:r>
            <a:endParaRPr lang="en-US" sz="1500" noProof="1"/>
          </a:p>
        </p:txBody>
      </p:sp>
      <p:sp>
        <p:nvSpPr>
          <p:cNvPr id="6" name="c2"/>
          <p:cNvSpPr txBox="1"/>
          <p:nvPr/>
        </p:nvSpPr>
        <p:spPr>
          <a:xfrm>
            <a:off x="1143000" y="3441700"/>
            <a:ext cx="990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2 · La prueba de manejo suma siempre.</a:t>
            </a: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 Eleva el potencial en todos los agentes (F = 15.0, p = 0.0001) y su efecto es aditivo, no depende de quién contactó al lead.</a:t>
            </a:r>
            <a:endParaRPr lang="en-US" sz="1500" noProof="1"/>
          </a:p>
        </p:txBody>
      </p:sp>
      <p:sp>
        <p:nvSpPr>
          <p:cNvPr id="7" name="c3"/>
          <p:cNvSpPr txBox="1"/>
          <p:nvPr/>
        </p:nvSpPr>
        <p:spPr>
          <a:xfrm>
            <a:off x="1143000" y="4533900"/>
            <a:ext cx="9906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3 · Cada plaza es distinta.</a:t>
            </a: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 En la base Plazas, el producto y la interacción producto × plaza son significativos: la estrategia de piso debe adaptarse a cada ubicación.</a:t>
            </a:r>
            <a:endParaRPr lang="en-US" sz="1500" noProof="1"/>
          </a:p>
        </p:txBody>
      </p:sp>
      <p:sp>
        <p:nvSpPr>
          <p:cNvPr id="8" name="linea"/>
          <p:cNvSpPr/>
          <p:nvPr/>
        </p:nvSpPr>
        <p:spPr>
          <a:xfrm>
            <a:off x="1143000" y="5867400"/>
            <a:ext cx="9906000" cy="12700"/>
          </a:xfrm>
          <a:prstGeom prst="rect">
            <a:avLst/>
          </a:prstGeom>
          <a:solidFill>
            <a:srgbClr val="6B2438"/>
          </a:solidFill>
          <a:ln>
            <a:noFill/>
          </a:ln>
        </p:spPr>
      </p:sp>
      <p:sp>
        <p:nvSpPr>
          <p:cNvPr id="9" name="cierre"/>
          <p:cNvSpPr txBox="1"/>
          <p:nvPr/>
        </p:nvSpPr>
        <p:spPr>
          <a:xfrm>
            <a:off x="1143000" y="6045200"/>
            <a:ext cx="990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C9747F"/>
                </a:solidFill>
                <a:latin typeface="MiSans"/>
                <a:ea typeface="MiSans"/>
              </a:rPr>
              <a:t>Datos reales del socio formador GAC Motor · Análisis reproducible en el notebook del repositorio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Actividad 4 — Despliegue ANOVA (GAC)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